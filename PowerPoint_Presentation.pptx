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78" r:id="rId8"/>
    <p:sldId id="263" r:id="rId9"/>
    <p:sldId id="264" r:id="rId10"/>
    <p:sldId id="267" r:id="rId11"/>
    <p:sldId id="280" r:id="rId12"/>
    <p:sldId id="270" r:id="rId13"/>
    <p:sldId id="271" r:id="rId14"/>
    <p:sldId id="272" r:id="rId15"/>
    <p:sldId id="281" r:id="rId16"/>
    <p:sldId id="274" r:id="rId17"/>
    <p:sldId id="282" r:id="rId18"/>
    <p:sldId id="283" r:id="rId19"/>
    <p:sldId id="284" r:id="rId20"/>
    <p:sldId id="276"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55241" autoAdjust="0"/>
  </p:normalViewPr>
  <p:slideViewPr>
    <p:cSldViewPr snapToGrid="0" snapToObjects="1">
      <p:cViewPr>
        <p:scale>
          <a:sx n="100" d="100"/>
          <a:sy n="100" d="100"/>
        </p:scale>
        <p:origin x="62" y="-629"/>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42" d="100"/>
          <a:sy n="42" d="100"/>
        </p:scale>
        <p:origin x="56"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038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Good morning, everyone.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Across many projects, we’re asked not just to predict an outcome but to understand what’s driving it. While prediction is a well-understood area where machine learning models tend to perform best, questions around attribution and causality are much less clear cut.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For those who I have yet to meet, my name is Justin, and I’m a third-year student of Data Science at the University of Stellenbosch. With a passion for econometrics, my interest is to bridge the gap between prediction and inference, moving from black-box models, where the intention is solely to increase predictive accuracy, to an approach which explores attribution and attempts to isolate causality. This requires a different way of thinking about a problem, one which requires a deeper understanding of the question we are trying to answer and the nature of the data we are dealing with.</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In this presentation, I will show how one business question,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“why customers churn?”</a:t>
            </a:r>
            <a:r>
              <a:rPr lang="en-ZA" sz="1000" dirty="0">
                <a:effectLst/>
                <a:latin typeface="Calibri" panose="020F0502020204030204" pitchFamily="34" charset="0"/>
                <a:ea typeface="Calibri" panose="020F0502020204030204" pitchFamily="34" charset="0"/>
                <a:cs typeface="Times New Roman" panose="02020603050405020304" pitchFamily="18" charset="0"/>
              </a:rPr>
              <a:t> can be split into four analytical tasks. We will see that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“why customers are leaving”</a:t>
            </a:r>
            <a:r>
              <a:rPr lang="en-ZA" sz="1000" dirty="0">
                <a:effectLst/>
                <a:latin typeface="Calibri" panose="020F0502020204030204" pitchFamily="34" charset="0"/>
                <a:ea typeface="Calibri" panose="020F0502020204030204" pitchFamily="34" charset="0"/>
                <a:cs typeface="Times New Roman" panose="02020603050405020304" pitchFamily="18" charset="0"/>
              </a:rPr>
              <a:t>, can mean several things.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first is </a:t>
            </a:r>
            <a:r>
              <a:rPr lang="en-ZA" sz="1000" b="1" dirty="0">
                <a:effectLst/>
                <a:latin typeface="Calibri" panose="020F0502020204030204" pitchFamily="34" charset="0"/>
                <a:ea typeface="Calibri" panose="020F0502020204030204" pitchFamily="34" charset="0"/>
                <a:cs typeface="Times New Roman" panose="02020603050405020304" pitchFamily="18" charset="0"/>
              </a:rPr>
              <a:t>prediction</a:t>
            </a:r>
            <a:r>
              <a:rPr lang="en-ZA" sz="1000" dirty="0">
                <a:effectLst/>
                <a:latin typeface="Calibri" panose="020F0502020204030204" pitchFamily="34" charset="0"/>
                <a:ea typeface="Calibri" panose="020F0502020204030204" pitchFamily="34" charset="0"/>
                <a:cs typeface="Times New Roman" panose="02020603050405020304" pitchFamily="18" charset="0"/>
              </a:rPr>
              <a:t>. Here the question is: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who is likely to churn?”</a:t>
            </a:r>
            <a:r>
              <a:rPr lang="en-ZA" sz="1000" dirty="0">
                <a:effectLst/>
                <a:latin typeface="Calibri" panose="020F0502020204030204" pitchFamily="34" charset="0"/>
                <a:ea typeface="Calibri" panose="020F0502020204030204" pitchFamily="34" charset="0"/>
                <a:cs typeface="Times New Roman" panose="02020603050405020304" pitchFamily="18" charset="0"/>
              </a:rPr>
              <a:t>. We want to identify high-risk customers so that the business can prioritise retention activity.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second task is </a:t>
            </a:r>
            <a:r>
              <a:rPr lang="en-ZA" sz="1000" b="1" dirty="0">
                <a:effectLst/>
                <a:latin typeface="Calibri" panose="020F0502020204030204" pitchFamily="34" charset="0"/>
                <a:ea typeface="Calibri" panose="020F0502020204030204" pitchFamily="34" charset="0"/>
                <a:cs typeface="Times New Roman" panose="02020603050405020304" pitchFamily="18" charset="0"/>
              </a:rPr>
              <a:t>model explanation</a:t>
            </a:r>
            <a:r>
              <a:rPr lang="en-ZA" sz="1000" dirty="0">
                <a:effectLst/>
                <a:latin typeface="Calibri" panose="020F0502020204030204" pitchFamily="34" charset="0"/>
                <a:ea typeface="Calibri" panose="020F0502020204030204" pitchFamily="34" charset="0"/>
                <a:cs typeface="Times New Roman" panose="02020603050405020304" pitchFamily="18" charset="0"/>
              </a:rPr>
              <a:t>. Once we have a good prediction model, stakeholders naturally ask: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“why did the model flag this customer?”.</a:t>
            </a:r>
            <a:r>
              <a:rPr lang="en-ZA" sz="1000" dirty="0">
                <a:effectLst/>
                <a:latin typeface="Calibri" panose="020F0502020204030204" pitchFamily="34" charset="0"/>
                <a:ea typeface="Calibri" panose="020F0502020204030204" pitchFamily="34" charset="0"/>
                <a:cs typeface="Times New Roman" panose="02020603050405020304" pitchFamily="18" charset="0"/>
              </a:rPr>
              <a:t> This can be answered using methods that explain the model’s prediction by showing which features pushed a customer’s predicted churn risk up or down.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third task is </a:t>
            </a:r>
            <a:r>
              <a:rPr lang="en-ZA" sz="1000" b="1" dirty="0">
                <a:effectLst/>
                <a:latin typeface="Calibri" panose="020F0502020204030204" pitchFamily="34" charset="0"/>
                <a:ea typeface="Calibri" panose="020F0502020204030204" pitchFamily="34" charset="0"/>
                <a:cs typeface="Times New Roman" panose="02020603050405020304" pitchFamily="18" charset="0"/>
              </a:rPr>
              <a:t>attribution or association</a:t>
            </a:r>
            <a:r>
              <a:rPr lang="en-ZA" sz="1000" dirty="0">
                <a:effectLst/>
                <a:latin typeface="Calibri" panose="020F0502020204030204" pitchFamily="34" charset="0"/>
                <a:ea typeface="Calibri" panose="020F0502020204030204" pitchFamily="34" charset="0"/>
                <a:cs typeface="Times New Roman" panose="02020603050405020304" pitchFamily="18" charset="0"/>
              </a:rPr>
              <a:t>. Here we are asking: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“which factors are related to churn, after accounting for other variables?”.</a:t>
            </a:r>
            <a:r>
              <a:rPr lang="en-ZA" sz="1000" dirty="0">
                <a:effectLst/>
                <a:latin typeface="Calibri" panose="020F0502020204030204" pitchFamily="34" charset="0"/>
                <a:ea typeface="Calibri" panose="020F0502020204030204" pitchFamily="34" charset="0"/>
                <a:cs typeface="Times New Roman" panose="02020603050405020304" pitchFamily="18" charset="0"/>
              </a:rPr>
              <a:t> For example, a are month-to-month contracts, high charges or lack of tech support associated with churn?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fourth task is </a:t>
            </a:r>
            <a:r>
              <a:rPr lang="en-ZA" sz="1000" b="1" dirty="0">
                <a:effectLst/>
                <a:latin typeface="Calibri" panose="020F0502020204030204" pitchFamily="34" charset="0"/>
                <a:ea typeface="Calibri" panose="020F0502020204030204" pitchFamily="34" charset="0"/>
                <a:cs typeface="Times New Roman" panose="02020603050405020304" pitchFamily="18" charset="0"/>
              </a:rPr>
              <a:t>causal effect estimation</a:t>
            </a:r>
            <a:r>
              <a:rPr lang="en-ZA" sz="1000" dirty="0">
                <a:effectLst/>
                <a:latin typeface="Calibri" panose="020F0502020204030204" pitchFamily="34" charset="0"/>
                <a:ea typeface="Calibri" panose="020F0502020204030204" pitchFamily="34" charset="0"/>
                <a:cs typeface="Times New Roman" panose="02020603050405020304" pitchFamily="18" charset="0"/>
              </a:rPr>
              <a:t>. This is the strongest and most demanding question. Here we ask: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“what would happen if we changed something?”.</a:t>
            </a:r>
            <a:r>
              <a:rPr lang="en-ZA" sz="1000" dirty="0">
                <a:effectLst/>
                <a:latin typeface="Calibri" panose="020F0502020204030204" pitchFamily="34" charset="0"/>
                <a:ea typeface="Calibri" panose="020F0502020204030204" pitchFamily="34" charset="0"/>
                <a:cs typeface="Times New Roman" panose="02020603050405020304" pitchFamily="18" charset="0"/>
              </a:rPr>
              <a:t> For example, did a retention call actually reduce churn? To answer this, we need causal thinking, not just predictive modelling.</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For each task, the key question is not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“which method is most sophisticated?”</a:t>
            </a:r>
            <a:r>
              <a:rPr lang="en-ZA" sz="1000" dirty="0">
                <a:effectLst/>
                <a:latin typeface="Calibri" panose="020F0502020204030204" pitchFamily="34" charset="0"/>
                <a:ea typeface="Calibri" panose="020F0502020204030204" pitchFamily="34" charset="0"/>
                <a:cs typeface="Times New Roman" panose="02020603050405020304" pitchFamily="18" charset="0"/>
              </a:rPr>
              <a:t> but rather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“what question are we answering, and does the data support that answer?”.</a:t>
            </a:r>
            <a:endParaRPr lang="en-ZA" sz="1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base dataset I will be using for the worked examples in this presentation is the IBM Telco churn dataset. It contains data related to customer profile, services, charges, contract, and the binary churn outcome. This dataset allows us to predict churn, explain predictions, and identify associations. However, it cannot prove that a variable caused churn, alone.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Thus, I have proposed two hypothetical extensions that will allow us to estimate causality. The first is a survey extension, which aims to quantify unobserved variables such trust. The second is an intervention extension, where data is collected after some treatment, has been applied to a fraction of the customer base.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We start with a brief overview of prediction. Here our goal is solely to determine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“who is likely to churn?”</a:t>
            </a:r>
            <a:r>
              <a:rPr lang="en-ZA" sz="1000" dirty="0">
                <a:effectLst/>
                <a:latin typeface="Calibri" panose="020F0502020204030204" pitchFamily="34" charset="0"/>
                <a:ea typeface="Calibri" panose="020F0502020204030204" pitchFamily="34" charset="0"/>
                <a:cs typeface="Times New Roman" panose="02020603050405020304" pitchFamily="18" charset="0"/>
              </a:rPr>
              <a:t>, by accurately predicting each customer’s probability of churning. This will enable the business to conduct targeted intervention, that is, provide retention offers to those customers that are at highest risk of churning.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For problems of this nature, we can choose from a range of classification models such as logistic regression, random forests, </a:t>
            </a:r>
            <a:r>
              <a:rPr lang="en-ZA" sz="1000" dirty="0" err="1">
                <a:effectLst/>
                <a:latin typeface="Calibri" panose="020F0502020204030204" pitchFamily="34" charset="0"/>
                <a:ea typeface="Calibri" panose="020F0502020204030204" pitchFamily="34" charset="0"/>
                <a:cs typeface="Times New Roman" panose="02020603050405020304" pitchFamily="18" charset="0"/>
              </a:rPr>
              <a:t>XGBoost</a:t>
            </a:r>
            <a:r>
              <a:rPr lang="en-ZA" sz="1000" dirty="0">
                <a:effectLst/>
                <a:latin typeface="Calibri" panose="020F0502020204030204" pitchFamily="34" charset="0"/>
                <a:ea typeface="Calibri" panose="020F0502020204030204" pitchFamily="34" charset="0"/>
                <a:cs typeface="Times New Roman" panose="02020603050405020304" pitchFamily="18" charset="0"/>
              </a:rPr>
              <a:t>, or Support Vector Machines. Our choice of model will then be determined by the model’s performance on metrics such as accuracy and ROC AUC.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After our model has been fit and performance has been evaluated, stakeholders may ask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“why the model flagged a given customer”</a:t>
            </a:r>
            <a:r>
              <a:rPr lang="en-ZA" sz="1000" dirty="0">
                <a:effectLst/>
                <a:latin typeface="Calibri" panose="020F0502020204030204" pitchFamily="34" charset="0"/>
                <a:ea typeface="Calibri" panose="020F0502020204030204" pitchFamily="34" charset="0"/>
                <a:cs typeface="Times New Roman" panose="02020603050405020304" pitchFamily="18" charset="0"/>
              </a:rPr>
              <a:t> or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“how features impacted predictions across customers”.</a:t>
            </a:r>
            <a:r>
              <a:rPr lang="en-ZA" sz="1000" dirty="0">
                <a:effectLst/>
                <a:latin typeface="Calibri" panose="020F0502020204030204" pitchFamily="34" charset="0"/>
                <a:ea typeface="Calibri" panose="020F0502020204030204" pitchFamily="34" charset="0"/>
                <a:cs typeface="Times New Roman" panose="02020603050405020304" pitchFamily="18" charset="0"/>
              </a:rPr>
              <a:t> This is a question of model explanation, best answered using SHAP values.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SHAP values, or Shapley Additive </a:t>
            </a:r>
            <a:r>
              <a:rPr lang="en-ZA" sz="1000" dirty="0" err="1">
                <a:effectLst/>
                <a:latin typeface="Calibri" panose="020F0502020204030204" pitchFamily="34" charset="0"/>
                <a:ea typeface="Calibri" panose="020F0502020204030204" pitchFamily="34" charset="0"/>
                <a:cs typeface="Times New Roman" panose="02020603050405020304" pitchFamily="18" charset="0"/>
              </a:rPr>
              <a:t>exPlanations</a:t>
            </a:r>
            <a:r>
              <a:rPr lang="en-ZA" sz="1000" dirty="0">
                <a:effectLst/>
                <a:latin typeface="Calibri" panose="020F0502020204030204" pitchFamily="34" charset="0"/>
                <a:ea typeface="Calibri" panose="020F0502020204030204" pitchFamily="34" charset="0"/>
                <a:cs typeface="Times New Roman" panose="02020603050405020304" pitchFamily="18" charset="0"/>
              </a:rPr>
              <a:t>, are an explainable machine learning technique used to understand how different features contribute to a model’s predictions. Many machine learning models are considered “black boxes” because they can make accurate predictions without clearly showing how those predictions were produced. SHAP helps address this by showing how much each feature pushed a prediction higher or lower compared with the model’s average prediction.</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It is based on cooperative game theory, treating the features in a model as “players” in a game, and the model’s prediction as the “reward” produced by those players working together. The SHAP value of a feature represents that feature’s fair contribution to the final prediction. This can be used at a </a:t>
            </a:r>
            <a:r>
              <a:rPr lang="en-ZA" sz="1000" b="1" dirty="0">
                <a:effectLst/>
                <a:latin typeface="Calibri" panose="020F0502020204030204" pitchFamily="34" charset="0"/>
                <a:ea typeface="Calibri" panose="020F0502020204030204" pitchFamily="34" charset="0"/>
                <a:cs typeface="Times New Roman" panose="02020603050405020304" pitchFamily="18" charset="0"/>
              </a:rPr>
              <a:t>local level</a:t>
            </a:r>
            <a:r>
              <a:rPr lang="en-ZA" sz="1000" dirty="0">
                <a:effectLst/>
                <a:latin typeface="Calibri" panose="020F0502020204030204" pitchFamily="34" charset="0"/>
                <a:ea typeface="Calibri" panose="020F0502020204030204" pitchFamily="34" charset="0"/>
                <a:cs typeface="Times New Roman" panose="02020603050405020304" pitchFamily="18" charset="0"/>
              </a:rPr>
              <a:t>, where we explain one specific prediction, or at a </a:t>
            </a:r>
            <a:r>
              <a:rPr lang="en-ZA" sz="1000" b="1" dirty="0">
                <a:effectLst/>
                <a:latin typeface="Calibri" panose="020F0502020204030204" pitchFamily="34" charset="0"/>
                <a:ea typeface="Calibri" panose="020F0502020204030204" pitchFamily="34" charset="0"/>
                <a:cs typeface="Times New Roman" panose="02020603050405020304" pitchFamily="18" charset="0"/>
              </a:rPr>
              <a:t>global level</a:t>
            </a:r>
            <a:r>
              <a:rPr lang="en-ZA" sz="1000" dirty="0">
                <a:effectLst/>
                <a:latin typeface="Calibri" panose="020F0502020204030204" pitchFamily="34" charset="0"/>
                <a:ea typeface="Calibri" panose="020F0502020204030204" pitchFamily="34" charset="0"/>
                <a:cs typeface="Times New Roman" panose="02020603050405020304" pitchFamily="18" charset="0"/>
              </a:rPr>
              <a:t>, where we understand which features are most important for prediction across the whole dataset.</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To understand how much each feature contributed to an individual’s predicted probability of churn, we use a waterfall plot. In this case, the model starts with an average predicted churn probability of about 27%. This value is called the base value and is the average predicted probability of churn in a subset of the dataset called the background sample.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Each feature pushes the prediction up or down. For this customer, the final predicted churn probability is about 66%. The plot shows that the main features pushing this customer towards churn are: high monthly charges, a month-to-month contract, and a relatively short tenure of 15 months. We also notice that some features push the prediction down, lowering the predicted probability of churn, such as no multiple lines and no online security.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develops our understanding of the model and enables us to move from saying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“This customer is high risk”, </a:t>
            </a:r>
            <a:r>
              <a:rPr lang="en-ZA" sz="1000" dirty="0">
                <a:effectLst/>
                <a:latin typeface="Calibri" panose="020F0502020204030204" pitchFamily="34" charset="0"/>
                <a:ea typeface="Calibri" panose="020F0502020204030204" pitchFamily="34" charset="0"/>
                <a:cs typeface="Times New Roman" panose="02020603050405020304" pitchFamily="18" charset="0"/>
              </a:rPr>
              <a:t>to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“This customer is high risk mainly because the model sees a pattern of high charges, a month-to-month contract, and a short tenure”, </a:t>
            </a:r>
            <a:r>
              <a:rPr lang="en-ZA" sz="1000" dirty="0">
                <a:effectLst/>
                <a:latin typeface="Calibri" panose="020F0502020204030204" pitchFamily="34" charset="0"/>
                <a:ea typeface="Calibri" panose="020F0502020204030204" pitchFamily="34" charset="0"/>
                <a:cs typeface="Times New Roman" panose="02020603050405020304" pitchFamily="18" charset="0"/>
              </a:rPr>
              <a:t>making prediction easier to discuss with business stakeholders.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Additionally, we can evaluate the impact of various features across different customers on prediction using a </a:t>
            </a:r>
            <a:r>
              <a:rPr lang="en-ZA" sz="1000" dirty="0" err="1">
                <a:effectLst/>
                <a:latin typeface="Calibri" panose="020F0502020204030204" pitchFamily="34" charset="0"/>
                <a:ea typeface="Calibri" panose="020F0502020204030204" pitchFamily="34" charset="0"/>
                <a:cs typeface="Times New Roman" panose="02020603050405020304" pitchFamily="18" charset="0"/>
              </a:rPr>
              <a:t>beeswarm</a:t>
            </a:r>
            <a:r>
              <a:rPr lang="en-ZA" sz="1000" dirty="0">
                <a:effectLst/>
                <a:latin typeface="Calibri" panose="020F0502020204030204" pitchFamily="34" charset="0"/>
                <a:ea typeface="Calibri" panose="020F0502020204030204" pitchFamily="34" charset="0"/>
                <a:cs typeface="Times New Roman" panose="02020603050405020304" pitchFamily="18" charset="0"/>
              </a:rPr>
              <a:t> plot. In this visual each dot is a customer, and its position on the x-axis shows whether that feature pushed the prediction towards churn or away from churn, compared the base value. The colour shows whether the feature value is high or low.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We can now see that across customers, the most influential features are whether contract type is month-to-month, the length of tenure and whether internet service is Fibre optic.</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useful because it tells us what the model is relying on when it scores customers. However, we must remind ourselves that this does not necessarily mean that these features cause churn, it simply means that the model has learned that these features are useful for predicting churn.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76891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SHAP has three major strengths as it relates to explainable machine learning.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First, it gives both global and local explanation; second, it works well with complex predictive models like </a:t>
            </a:r>
            <a:r>
              <a:rPr lang="en-ZA" sz="1000" dirty="0" err="1">
                <a:effectLst/>
                <a:latin typeface="Calibri" panose="020F0502020204030204" pitchFamily="34" charset="0"/>
                <a:ea typeface="Calibri" panose="020F0502020204030204" pitchFamily="34" charset="0"/>
                <a:cs typeface="Times New Roman" panose="02020603050405020304" pitchFamily="18" charset="0"/>
              </a:rPr>
              <a:t>XGBoost</a:t>
            </a:r>
            <a:r>
              <a:rPr lang="en-ZA" sz="1000" dirty="0">
                <a:effectLst/>
                <a:latin typeface="Calibri" panose="020F0502020204030204" pitchFamily="34" charset="0"/>
                <a:ea typeface="Calibri" panose="020F0502020204030204" pitchFamily="34" charset="0"/>
                <a:cs typeface="Times New Roman" panose="02020603050405020304" pitchFamily="18" charset="0"/>
              </a:rPr>
              <a:t>, and third, it translates a black-box model into a more business friendly conversation. Instead of only showing accuracy or AUC, we can show why certain customers were flagged.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main weakness is that SHAP is not causal; it explains the model, not the real world. If SHAP shows that month-to-month contracts increase predicted churn risk, that does not prove that changing the contract would reduce churn; since customers on month-to-month contracts may differ from other customers in many other ways.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Other limitations include the fact that SHAP explanations depend on the model. Therefore, if the model is biased, overfit, poorly validated or trained on weak data, SHAP will explain that flawed model. And finally, correlated features such as tenure and total charges can share or distort importance. This means we should avoid over-reading exact rankings.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main assumptions are that the model being explained is good enough to be worth explaining; the features are meaningful and measured consistently, and the background sample used by SHAP is a reasonable reference group.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Now we move to the third task: attribution. Here the question changes. We are no longer only asking, “Who is likely to churn?” or “Why did the model make this prediction?” We are asking, “Which factors are associated with churn after accounting for other variables?”.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where logistic regression becomes useful. Because churn is a yes/no outcome, we use logistic regression rather than ordinary linear regression, but the same logic applies for either model. Logistic regression estimates how each variable is associated with the odds of churn, while holding the other variables in the model constant.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GAM keeps the same basic logic as logistic regression — we are still modelling a binary churn outcome and still controlling for other variables — but it relaxes the assumption of linearity for continuous predictors. Instead of forcing tenure into one simple effect, the GAM allows the data to estimate a smooth curve.
The two visuals are both showing the relationship between tenure and predicted churn probability, but they are doing it in different ways.
The chart on the left gives a very smooth, regular pattern. Implying that:
“As tenure increases, predicted churn probability steadily decreases.”
The chart on the right is the GAM version. It still shows the same overall story — churn risk is highest among newer customers and generally falls as tenure increases — but it allows the pattern to be more flexible. The curve drops sharply early on, then flattens, then shows smaller changes later in the customer lifecycle.
So, the extra value of the GAM is not that it tells a completely different story. It tells a more detailed version of the story.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We can extend this idea one step further to Generalised Additive Mixed Models.</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It combines two ideas: That a GAM allows flexible, nonlinear relationships and that a mixed model allows for grouped or clustered data.</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So, a Generalised Additive Mixed Model is like a traditional GAM, but it also recognises that customers may belong to different groups.</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In a real churn setting, those groups could be: regions, branches, stores, account managers, or</a:t>
            </a:r>
            <a:br>
              <a:rPr lang="en-ZA" sz="1000" dirty="0">
                <a:effectLst/>
                <a:latin typeface="Calibri" panose="020F0502020204030204" pitchFamily="34" charset="0"/>
                <a:ea typeface="Calibri" panose="020F0502020204030204" pitchFamily="34" charset="0"/>
                <a:cs typeface="Times New Roman" panose="02020603050405020304" pitchFamily="18" charset="0"/>
              </a:rPr>
            </a:br>
            <a:r>
              <a:rPr lang="en-ZA" sz="1000" dirty="0">
                <a:effectLst/>
                <a:latin typeface="Calibri" panose="020F0502020204030204" pitchFamily="34" charset="0"/>
                <a:ea typeface="Calibri" panose="020F0502020204030204" pitchFamily="34" charset="0"/>
                <a:cs typeface="Times New Roman" panose="02020603050405020304" pitchFamily="18" charset="0"/>
              </a:rPr>
              <a:t>sales teams.</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reason this matters is that customers are not always fully independent. Customers from the same region, branch or account manager may share common experiences. A standard GAM may ignore this grouping. However, its mixed model counterpart allows us to model it.</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Since this dataset does not explicitly contain any features which imply grouping, I ran a k-means clustering algorithm to identify a latent class label. This resulted in two clusters that showed clear separation when visualised with a PCA plot. I then added a feature called inferred region to represent this artificial grouping.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left-hand chart is a odds-ratio plot akin to the one discussed for logistic regression. It shows that the inferred Region A appears to have higher baseline churn risk, while Region B appears to have lower baseline churn risk.</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powerful because it separates customer-level drivers from group-level patterns.</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right-hand chart shows churn curves by group. Which can be used to show how the relationship between response and predictor vary across different groups. In this case, it simply shows a baseline difference.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322815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Generalised Additive Mixed Models benefit from the strengths of traditional GAMs, since they can handle nonlinear relationships and are easily interpreted with odds-ratio plots and predicted probability curves. However, the mixed model component enables them to handle grouped data and help separate levels of variation, distinguishing between customer-level effects and group-level effects.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In terms of weaknesses and limitations:</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first weakness is complexity. The mixed component means that these models are harder to explain than logistic regression or a simple GAM, since you need to explain both the smooth functions and the grouped effects.</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second weakness is data requirements. You need enough data within each group. If some branches or regions have very few customers, the group estimates may be unstable.</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third weakness is overfitting. If the smooth curves are too flexible, the model can chase noise rather than capture a real pattern.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final limitation,   is that they are still not necessarily causal. Even if one region has higher churn, the model does not prove that the region caused the churn,</a:t>
            </a:r>
            <a:r>
              <a:rPr lang="en-ZA" sz="1000" baseline="0" dirty="0">
                <a:effectLst/>
                <a:latin typeface="Calibri" panose="020F0502020204030204" pitchFamily="34" charset="0"/>
                <a:ea typeface="Calibri" panose="020F0502020204030204" pitchFamily="34" charset="0"/>
                <a:cs typeface="Times New Roman" panose="02020603050405020304" pitchFamily="18" charset="0"/>
              </a:rPr>
              <a:t> since t</a:t>
            </a:r>
            <a:r>
              <a:rPr lang="en-ZA" sz="1000" dirty="0">
                <a:effectLst/>
                <a:latin typeface="Calibri" panose="020F0502020204030204" pitchFamily="34" charset="0"/>
                <a:ea typeface="Calibri" panose="020F0502020204030204" pitchFamily="34" charset="0"/>
                <a:cs typeface="Times New Roman" panose="02020603050405020304" pitchFamily="18" charset="0"/>
              </a:rPr>
              <a:t>here may be unmeasured differences such as competitor activity.</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main assumption is that the grouping variable must represent a real source of shared context or dependency. If we group customers by something arbitrary, the random effect will not capture meaningful variation and may add complexity without improving the explanation.</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Now we begin to answer the long-awaited question of “what causes churn?”. We will see this requires a deeper understanding of the structure of observational data as well as methods to estimate the effects of unobserved data. A useful tool for understanding the structure of data and for modelling latent constructs is the DAG.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A DAG, or Directed Acyclic Graph, is a way of drawing out what we believe is happening in the real world before we start modelling. It is not a model output, and it is not something the data automatically gives us. Rather, it is an assumption map. It requires domain expertise and forces us to be clear about what we think causes what, which variables sit earlier in the process, and which variables are outcomes of other variables.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For example, we may assume that service experience impacts trust and churn, and that trust leads to customer commitment, which ultimately impacts churn as well.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Clarifying what we believe is the causal structure behind churn, and what would we need to assume before making a causal claim, prepares us for the next methods: SEM, Bayesian SEM, and causal effect estimation.</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Structural Equation Modelling, or SEM allows us to model relationships between variables that are directly observed, as well as broader concepts that are not directly observed. These broader concepts are called latent constructs. In this example, we are interested in ideas like service experience, trust and customer commitment. We cannot measure trust perfectly with one column in a dataset, but we can infer it from several indicators, such as whether customers believe the provider is reliable, honest, fair in resolving problems, and acting in their best interest. This is where engagement with customers through surveys can act as a useful extension to the dataset, where responses can be used to quantify trust.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important difference between SEM and a standard regression model is that SEM allows us to model a system of relationships at the same time.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In this diagram, the dotted arrows show how observed indicators are used to measure latent constructs. For example, tech support, online security and monthly charges help represent service experience. The solid arrows then show the structural pathways between those constructs and churn.</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gives us a richer explanation of churn. Rather than saying, “contract type predicts churn,” we can say that contract type may be part of a broader commitment mechanism.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However, this approach requires caution. SEM can make a model look causal because it uses arrows, but the arrows are only as strong as the assumptions and data behind them. With proper survey measures, timing, and theory, SEM can help us test whether the proposed structure is plausible. But it does not automatically prove causality.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leads naturally into Bayesian SEM. Standard SEM estimates the strength of each pathway in the model.  Bayesian SEM does the same thing, but instead of giving us only a single best estimate, it gives us a distribution of plausible values for each relationship. It allows us to express uncertainty more directly, incorporate prior knowledge, and ask how confident we are about each relationship in the model.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useful because in real-world problems, we are often uncertain. We may not know exactly how strong a relationship is, have limited data or have prior knowledge we’d like to incorporate. Bayesian SEM gives us a formal way to combine what we already believe with what the current data is telling us.</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9309724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Bayesian SEM has several strengths. First, it gives us a more honest way to talk about uncertainty. Instead of presenting each pathway as though there is one fixed answer, Bayesian SEM gives us a range of plausible values for each relationship. A second strength is that Bayesian SEM can incorporate prior knowledge, which is then updated using the data. This can be especially useful when sample sizes are smaller, the model is more complex, or we want to combine theory, previous evidence and current data.</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However, Bayesian SEM also has weaknesses. It is more technically demanding than a standard SEM. The results can be influenced by the priors we choose, especially when the sample is small or the data is weak. This means we cannot simply choose priors that produce the story we want. The priors must be justified, and we should check whether the conclusions change when different reasonable priors are used. Bayesian SEM can also be harder to explain to stakeholders because the output is probabilistic rather than a single coefficient or p-value.</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main assumptions are that the measurement model is meaningful, the structural pathways are theoretically justified, and the priors are appropriate.</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leads naturally into Bayesian SEM. Standard SEM estimates the strength of each pathway in the model.  Bayesian SEM does the same thing, but instead of giving us only a single best estimate, it gives us a distribution of plausible values for each relationship. It allows us to express uncertainty more directly, incorporate prior knowledge, and ask how confident we are about each relationship in the model.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useful because in real-world problems, we are often uncertain. We may not know exactly how strong a relationship is, have limited data or have prior knowledge we’d like to incorporate. Bayesian SEM gives us a formal way to combine what we already believe with what the current data is telling us.</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8068466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leads naturally into Bayesian SEM. Standard SEM estimates the strength of each pathway in the model.  Bayesian SEM does the same thing, but instead of giving us only a single best estimate, it gives us a distribution of plausible values for each relationship. It allows us to express uncertainty more directly, incorporate prior knowledge, and ask how confident we are about each relationship in the model.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useful because in real-world problems, we are often uncertain. We may not know exactly how strong a relationship is, have limited data or have prior knowledge we’d like to incorporate. Bayesian SEM gives us a formal way to combine what we already believe with what the current data is telling us.</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7705413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leads naturally into Bayesian SEM. Standard SEM estimates the strength of each pathway in the model.  Bayesian SEM does the same thing, but instead of giving us only a single best estimate, it gives us a distribution of plausible values for each relationship. It allows us to express uncertainty more directly, incorporate prior knowledge, and ask how confident we are about each relationship in the model.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useful because in real-world problems, we are often uncertain. We may not know exactly how strong a relationship is, have limited data or have prior knowledge we’d like to incorporate. Bayesian SEM gives us a formal way to combine what we already believe with what the current data is telling us.</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6053181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800" dirty="0">
                <a:effectLst/>
                <a:latin typeface="Calibri" panose="020F0502020204030204" pitchFamily="34" charset="0"/>
                <a:ea typeface="Calibri" panose="020F0502020204030204" pitchFamily="34" charset="0"/>
                <a:cs typeface="Times New Roman" panose="02020603050405020304" pitchFamily="18" charset="0"/>
              </a:rPr>
              <a:t>The main point of this presentation is to ask the right question. Once the question is clearly defined, the choice of approach is simplified. Use prediction for prioritisation, explanation for transparency, attribution for controlled associations and casual inference when the decision is about changing the system. </a:t>
            </a:r>
          </a:p>
          <a:p>
            <a:r>
              <a:rPr lang="en-ZA" sz="1800" dirty="0">
                <a:effectLst/>
                <a:latin typeface="Calibri" panose="020F0502020204030204" pitchFamily="34" charset="0"/>
                <a:ea typeface="Calibri" panose="020F0502020204030204" pitchFamily="34" charset="0"/>
                <a:cs typeface="Times New Roman" panose="02020603050405020304" pitchFamily="18" charset="0"/>
              </a:rPr>
              <a:t>Thank you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 13">
            <a:extLst>
              <a:ext uri="{FF2B5EF4-FFF2-40B4-BE49-F238E27FC236}">
                <a16:creationId xmlns:a16="http://schemas.microsoft.com/office/drawing/2014/main" id="{B420C22B-4627-4E6C-800C-1B08E14FA02F}"/>
              </a:ext>
            </a:extLst>
          </p:cNvPr>
          <p:cNvSpPr/>
          <p:nvPr userDrawn="1"/>
        </p:nvSpPr>
        <p:spPr>
          <a:xfrm>
            <a:off x="502920" y="6556248"/>
            <a:ext cx="2560320" cy="164592"/>
          </a:xfrm>
          <a:prstGeom prst="rect">
            <a:avLst/>
          </a:prstGeom>
          <a:noFill/>
          <a:ln/>
        </p:spPr>
        <p:txBody>
          <a:bodyPr wrap="square" lIns="0" tIns="0" rIns="0" bIns="0" rtlCol="0" anchor="ctr"/>
          <a:lstStyle/>
          <a:p>
            <a:pPr marL="0" indent="0">
              <a:buNone/>
            </a:pPr>
            <a:r>
              <a:rPr lang="en-US" sz="750" dirty="0">
                <a:solidFill>
                  <a:srgbClr val="5A5A5A"/>
                </a:solidFill>
                <a:latin typeface="Aptos" pitchFamily="34" charset="0"/>
                <a:ea typeface="Aptos" pitchFamily="34" charset="-122"/>
                <a:cs typeface="Aptos" pitchFamily="34" charset="-120"/>
              </a:rPr>
              <a:t>Justin Gatonby</a:t>
            </a:r>
            <a:endParaRPr lang="en-US" sz="750" dirty="0"/>
          </a:p>
        </p:txBody>
      </p:sp>
      <p:sp>
        <p:nvSpPr>
          <p:cNvPr id="3" name="Text 14">
            <a:extLst>
              <a:ext uri="{FF2B5EF4-FFF2-40B4-BE49-F238E27FC236}">
                <a16:creationId xmlns:a16="http://schemas.microsoft.com/office/drawing/2014/main" id="{D81EC356-78DA-4854-99FC-BA78107C8ACC}"/>
              </a:ext>
            </a:extLst>
          </p:cNvPr>
          <p:cNvSpPr/>
          <p:nvPr userDrawn="1"/>
        </p:nvSpPr>
        <p:spPr>
          <a:xfrm>
            <a:off x="4892040" y="6556248"/>
            <a:ext cx="2377440" cy="164592"/>
          </a:xfrm>
          <a:prstGeom prst="rect">
            <a:avLst/>
          </a:prstGeom>
          <a:noFill/>
          <a:ln/>
        </p:spPr>
        <p:txBody>
          <a:bodyPr wrap="square" lIns="0" tIns="0" rIns="0" bIns="0" rtlCol="0" anchor="ctr"/>
          <a:lstStyle/>
          <a:p>
            <a:pPr marL="0" indent="0" algn="ctr">
              <a:buNone/>
            </a:pPr>
            <a:r>
              <a:rPr lang="en-US" sz="750" dirty="0">
                <a:solidFill>
                  <a:srgbClr val="5A5A5A"/>
                </a:solidFill>
                <a:latin typeface="Aptos" pitchFamily="34" charset="0"/>
                <a:ea typeface="Aptos" pitchFamily="34" charset="-122"/>
                <a:cs typeface="Aptos" pitchFamily="34" charset="-120"/>
              </a:rPr>
              <a:t>10 July 2026</a:t>
            </a:r>
            <a:endParaRPr lang="en-US" sz="750" dirty="0"/>
          </a:p>
        </p:txBody>
      </p:sp>
      <p:sp>
        <p:nvSpPr>
          <p:cNvPr id="4" name="Text 15">
            <a:extLst>
              <a:ext uri="{FF2B5EF4-FFF2-40B4-BE49-F238E27FC236}">
                <a16:creationId xmlns:a16="http://schemas.microsoft.com/office/drawing/2014/main" id="{73314F2B-EB20-4B7C-A528-11160535EB3F}"/>
              </a:ext>
            </a:extLst>
          </p:cNvPr>
          <p:cNvSpPr/>
          <p:nvPr userDrawn="1"/>
        </p:nvSpPr>
        <p:spPr>
          <a:xfrm>
            <a:off x="10652760" y="6556248"/>
            <a:ext cx="1005840" cy="164592"/>
          </a:xfrm>
          <a:prstGeom prst="rect">
            <a:avLst/>
          </a:prstGeom>
          <a:noFill/>
          <a:ln/>
        </p:spPr>
        <p:txBody>
          <a:bodyPr wrap="square" lIns="0" tIns="0" rIns="0" bIns="0" rtlCol="0" anchor="ctr"/>
          <a:lstStyle/>
          <a:p>
            <a:pPr marL="0" indent="0" algn="r">
              <a:buNone/>
            </a:pPr>
            <a:fld id="{671862D1-F75E-4AAD-B8C8-BBE50CB4DA6B}" type="slidenum">
              <a:rPr lang="en-US" sz="750" smtClean="0">
                <a:solidFill>
                  <a:srgbClr val="5A5A5A"/>
                </a:solidFill>
                <a:latin typeface="Aptos" pitchFamily="34" charset="0"/>
                <a:ea typeface="Aptos" pitchFamily="34" charset="-122"/>
                <a:cs typeface="Aptos" pitchFamily="34" charset="-120"/>
              </a:rPr>
              <a:t>‹#›</a:t>
            </a:fld>
            <a:r>
              <a:rPr lang="en-US" sz="750" dirty="0">
                <a:solidFill>
                  <a:srgbClr val="5A5A5A"/>
                </a:solidFill>
                <a:latin typeface="Aptos" pitchFamily="34" charset="0"/>
                <a:ea typeface="Aptos" pitchFamily="34" charset="-122"/>
                <a:cs typeface="Aptos" pitchFamily="34" charset="-120"/>
              </a:rPr>
              <a:t> / 21</a:t>
            </a:r>
            <a:endParaRPr lang="en-US" sz="750" dirty="0"/>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04A02"/>
          </a:solidFill>
          <a:ln w="12700">
            <a:solidFill>
              <a:srgbClr val="333333">
                <a:alpha val="0"/>
              </a:srgbClr>
            </a:solidFill>
            <a:prstDash val="solid"/>
          </a:ln>
        </p:spPr>
        <p:txBody>
          <a:bodyPr/>
          <a:lstStyle/>
          <a:p>
            <a:endParaRPr lang="en-ZA"/>
          </a:p>
        </p:txBody>
      </p:sp>
      <p:sp>
        <p:nvSpPr>
          <p:cNvPr id="3" name="Shape 1"/>
          <p:cNvSpPr/>
          <p:nvPr/>
        </p:nvSpPr>
        <p:spPr>
          <a:xfrm>
            <a:off x="164592" y="0"/>
            <a:ext cx="73152" cy="6858000"/>
          </a:xfrm>
          <a:prstGeom prst="rect">
            <a:avLst/>
          </a:prstGeom>
          <a:solidFill>
            <a:srgbClr val="FFB600"/>
          </a:solidFill>
          <a:ln w="12700">
            <a:solidFill>
              <a:srgbClr val="333333">
                <a:alpha val="0"/>
              </a:srgbClr>
            </a:solidFill>
            <a:prstDash val="solid"/>
          </a:ln>
        </p:spPr>
        <p:txBody>
          <a:bodyPr/>
          <a:lstStyle/>
          <a:p>
            <a:endParaRPr lang="en-ZA"/>
          </a:p>
        </p:txBody>
      </p:sp>
      <p:sp>
        <p:nvSpPr>
          <p:cNvPr id="4" name="Text 2"/>
          <p:cNvSpPr/>
          <p:nvPr/>
        </p:nvSpPr>
        <p:spPr>
          <a:xfrm>
            <a:off x="658368" y="1325880"/>
            <a:ext cx="6400800" cy="1463040"/>
          </a:xfrm>
          <a:prstGeom prst="rect">
            <a:avLst/>
          </a:prstGeom>
          <a:noFill/>
          <a:ln/>
        </p:spPr>
        <p:txBody>
          <a:bodyPr wrap="square" lIns="0" tIns="0" rIns="0" bIns="0" rtlCol="0" anchor="t">
            <a:normAutofit/>
          </a:bodyPr>
          <a:lstStyle/>
          <a:p>
            <a:pPr marL="0" indent="0">
              <a:buNone/>
            </a:pPr>
            <a:r>
              <a:rPr lang="en-US" sz="4200" b="1" dirty="0">
                <a:solidFill>
                  <a:srgbClr val="2B2A28"/>
                </a:solidFill>
                <a:latin typeface="Aptos Display" pitchFamily="34" charset="0"/>
                <a:ea typeface="Aptos Display" pitchFamily="34" charset="-122"/>
                <a:cs typeface="Aptos Display" pitchFamily="34" charset="-120"/>
              </a:rPr>
              <a:t>From Prediction</a:t>
            </a:r>
            <a:endParaRPr lang="en-US" sz="4200" dirty="0"/>
          </a:p>
          <a:p>
            <a:pPr marL="0" indent="0">
              <a:buNone/>
            </a:pPr>
            <a:r>
              <a:rPr lang="en-US" sz="4200" b="1" dirty="0">
                <a:solidFill>
                  <a:srgbClr val="2B2A28"/>
                </a:solidFill>
                <a:latin typeface="Aptos Display" pitchFamily="34" charset="0"/>
                <a:ea typeface="Aptos Display" pitchFamily="34" charset="-122"/>
                <a:cs typeface="Aptos Display" pitchFamily="34" charset="-120"/>
              </a:rPr>
              <a:t>to Causality</a:t>
            </a:r>
            <a:endParaRPr lang="en-US" sz="4200" dirty="0"/>
          </a:p>
        </p:txBody>
      </p:sp>
      <p:sp>
        <p:nvSpPr>
          <p:cNvPr id="5" name="Shape 3"/>
          <p:cNvSpPr/>
          <p:nvPr/>
        </p:nvSpPr>
        <p:spPr>
          <a:xfrm>
            <a:off x="685800" y="3063240"/>
            <a:ext cx="4114800" cy="0"/>
          </a:xfrm>
          <a:prstGeom prst="line">
            <a:avLst/>
          </a:prstGeom>
          <a:noFill/>
          <a:ln w="38100">
            <a:solidFill>
              <a:srgbClr val="D04A02"/>
            </a:solidFill>
            <a:prstDash val="solid"/>
          </a:ln>
        </p:spPr>
        <p:txBody>
          <a:bodyPr/>
          <a:lstStyle/>
          <a:p>
            <a:endParaRPr lang="en-ZA"/>
          </a:p>
        </p:txBody>
      </p:sp>
      <p:sp>
        <p:nvSpPr>
          <p:cNvPr id="6" name="Text 4"/>
          <p:cNvSpPr/>
          <p:nvPr/>
        </p:nvSpPr>
        <p:spPr>
          <a:xfrm>
            <a:off x="685800" y="3310128"/>
            <a:ext cx="6675120" cy="384048"/>
          </a:xfrm>
          <a:prstGeom prst="rect">
            <a:avLst/>
          </a:prstGeom>
          <a:noFill/>
          <a:ln/>
        </p:spPr>
        <p:txBody>
          <a:bodyPr wrap="square" lIns="0" tIns="0" rIns="0" bIns="0" rtlCol="0" anchor="ctr"/>
          <a:lstStyle/>
          <a:p>
            <a:pPr marL="0" indent="0">
              <a:buNone/>
            </a:pPr>
            <a:r>
              <a:rPr lang="en-US" sz="1800" dirty="0">
                <a:solidFill>
                  <a:srgbClr val="1F2933"/>
                </a:solidFill>
                <a:latin typeface="Aptos" pitchFamily="34" charset="0"/>
                <a:ea typeface="Aptos" pitchFamily="34" charset="-122"/>
                <a:cs typeface="Aptos" pitchFamily="34" charset="-120"/>
              </a:rPr>
              <a:t>A practical guide to model explanation, attribution and causal modelling</a:t>
            </a:r>
            <a:endParaRPr lang="en-US" sz="1800" dirty="0"/>
          </a:p>
        </p:txBody>
      </p:sp>
      <p:sp>
        <p:nvSpPr>
          <p:cNvPr id="8" name="Text 6"/>
          <p:cNvSpPr/>
          <p:nvPr/>
        </p:nvSpPr>
        <p:spPr>
          <a:xfrm>
            <a:off x="685800" y="4800600"/>
            <a:ext cx="3657600" cy="566928"/>
          </a:xfrm>
          <a:prstGeom prst="rect">
            <a:avLst/>
          </a:prstGeom>
          <a:noFill/>
          <a:ln/>
        </p:spPr>
        <p:txBody>
          <a:bodyPr wrap="square" lIns="0" tIns="0" rIns="0" bIns="0" rtlCol="0" anchor="ctr"/>
          <a:lstStyle/>
          <a:p>
            <a:pPr marL="0" indent="0">
              <a:buNone/>
            </a:pPr>
            <a:endParaRPr lang="en-US" sz="1300" dirty="0"/>
          </a:p>
        </p:txBody>
      </p:sp>
      <p:sp>
        <p:nvSpPr>
          <p:cNvPr id="9" name="Shape 7"/>
          <p:cNvSpPr/>
          <p:nvPr/>
        </p:nvSpPr>
        <p:spPr>
          <a:xfrm>
            <a:off x="7635240" y="1572768"/>
            <a:ext cx="1828800" cy="301752"/>
          </a:xfrm>
          <a:prstGeom prst="roundRect">
            <a:avLst>
              <a:gd name="adj" fmla="val 12121"/>
            </a:avLst>
          </a:prstGeom>
          <a:solidFill>
            <a:srgbClr val="F7F6F2">
              <a:alpha val="0"/>
            </a:srgbClr>
          </a:solidFill>
          <a:ln w="15240">
            <a:solidFill>
              <a:srgbClr val="005F73"/>
            </a:solidFill>
            <a:prstDash val="solid"/>
          </a:ln>
        </p:spPr>
        <p:txBody>
          <a:bodyPr/>
          <a:lstStyle/>
          <a:p>
            <a:endParaRPr lang="en-ZA"/>
          </a:p>
        </p:txBody>
      </p:sp>
      <p:sp>
        <p:nvSpPr>
          <p:cNvPr id="10" name="Text 8"/>
          <p:cNvSpPr/>
          <p:nvPr/>
        </p:nvSpPr>
        <p:spPr>
          <a:xfrm>
            <a:off x="7658100" y="1673052"/>
            <a:ext cx="1682496" cy="109728"/>
          </a:xfrm>
          <a:prstGeom prst="rect">
            <a:avLst/>
          </a:prstGeom>
          <a:noFill/>
          <a:ln/>
        </p:spPr>
        <p:txBody>
          <a:bodyPr wrap="square" lIns="0" tIns="0" rIns="0" bIns="0" rtlCol="0" anchor="ctr"/>
          <a:lstStyle/>
          <a:p>
            <a:pPr marL="0" indent="0" algn="ctr">
              <a:buNone/>
            </a:pPr>
            <a:r>
              <a:rPr lang="en-US" sz="1200" b="1" dirty="0">
                <a:solidFill>
                  <a:srgbClr val="005F73"/>
                </a:solidFill>
                <a:latin typeface="Aptos" pitchFamily="34" charset="0"/>
                <a:ea typeface="Aptos" pitchFamily="34" charset="-122"/>
                <a:cs typeface="Aptos" pitchFamily="34" charset="-120"/>
              </a:rPr>
              <a:t>Prediction</a:t>
            </a:r>
            <a:endParaRPr lang="en-US" sz="1200" dirty="0"/>
          </a:p>
        </p:txBody>
      </p:sp>
      <p:sp>
        <p:nvSpPr>
          <p:cNvPr id="11" name="Shape 9"/>
          <p:cNvSpPr/>
          <p:nvPr/>
        </p:nvSpPr>
        <p:spPr>
          <a:xfrm>
            <a:off x="8073825" y="2231136"/>
            <a:ext cx="1828800" cy="301752"/>
          </a:xfrm>
          <a:prstGeom prst="roundRect">
            <a:avLst>
              <a:gd name="adj" fmla="val 12121"/>
            </a:avLst>
          </a:prstGeom>
          <a:solidFill>
            <a:srgbClr val="F7F6F2">
              <a:alpha val="0"/>
            </a:srgbClr>
          </a:solidFill>
          <a:ln w="15240">
            <a:solidFill>
              <a:srgbClr val="3A6EA5"/>
            </a:solidFill>
            <a:prstDash val="solid"/>
          </a:ln>
        </p:spPr>
        <p:txBody>
          <a:bodyPr/>
          <a:lstStyle/>
          <a:p>
            <a:endParaRPr lang="en-ZA"/>
          </a:p>
        </p:txBody>
      </p:sp>
      <p:sp>
        <p:nvSpPr>
          <p:cNvPr id="12" name="Text 10"/>
          <p:cNvSpPr/>
          <p:nvPr/>
        </p:nvSpPr>
        <p:spPr>
          <a:xfrm>
            <a:off x="7895517" y="2325533"/>
            <a:ext cx="2185416" cy="109728"/>
          </a:xfrm>
          <a:prstGeom prst="rect">
            <a:avLst/>
          </a:prstGeom>
          <a:noFill/>
          <a:ln/>
        </p:spPr>
        <p:txBody>
          <a:bodyPr wrap="square" lIns="0" tIns="0" rIns="0" bIns="0" rtlCol="0" anchor="ctr"/>
          <a:lstStyle/>
          <a:p>
            <a:pPr marL="0" indent="0" algn="ctr">
              <a:buNone/>
            </a:pPr>
            <a:r>
              <a:rPr lang="en-US" sz="1200" b="1" dirty="0">
                <a:solidFill>
                  <a:srgbClr val="3A6EA5"/>
                </a:solidFill>
                <a:latin typeface="Aptos" pitchFamily="34" charset="0"/>
                <a:ea typeface="Aptos" pitchFamily="34" charset="-122"/>
                <a:cs typeface="Aptos" pitchFamily="34" charset="-120"/>
              </a:rPr>
              <a:t>Model explanation</a:t>
            </a:r>
            <a:endParaRPr lang="en-US" sz="1200" dirty="0"/>
          </a:p>
        </p:txBody>
      </p:sp>
      <p:sp>
        <p:nvSpPr>
          <p:cNvPr id="13" name="Shape 11"/>
          <p:cNvSpPr/>
          <p:nvPr/>
        </p:nvSpPr>
        <p:spPr>
          <a:xfrm>
            <a:off x="8499348" y="2889504"/>
            <a:ext cx="1828800" cy="301752"/>
          </a:xfrm>
          <a:prstGeom prst="roundRect">
            <a:avLst>
              <a:gd name="adj" fmla="val 12121"/>
            </a:avLst>
          </a:prstGeom>
          <a:solidFill>
            <a:srgbClr val="F7F6F2">
              <a:alpha val="0"/>
            </a:srgbClr>
          </a:solidFill>
          <a:ln w="15240">
            <a:solidFill>
              <a:srgbClr val="5D4157"/>
            </a:solidFill>
            <a:prstDash val="solid"/>
          </a:ln>
        </p:spPr>
        <p:txBody>
          <a:bodyPr/>
          <a:lstStyle/>
          <a:p>
            <a:endParaRPr lang="en-ZA"/>
          </a:p>
        </p:txBody>
      </p:sp>
      <p:sp>
        <p:nvSpPr>
          <p:cNvPr id="14" name="Text 12"/>
          <p:cNvSpPr/>
          <p:nvPr/>
        </p:nvSpPr>
        <p:spPr>
          <a:xfrm>
            <a:off x="8554074" y="2979946"/>
            <a:ext cx="1728216" cy="109728"/>
          </a:xfrm>
          <a:prstGeom prst="rect">
            <a:avLst/>
          </a:prstGeom>
          <a:noFill/>
          <a:ln/>
        </p:spPr>
        <p:txBody>
          <a:bodyPr wrap="square" lIns="0" tIns="0" rIns="0" bIns="0" rtlCol="0" anchor="ctr"/>
          <a:lstStyle/>
          <a:p>
            <a:pPr marL="0" indent="0" algn="ctr">
              <a:buNone/>
            </a:pPr>
            <a:r>
              <a:rPr lang="en-US" sz="1200" b="1" dirty="0">
                <a:solidFill>
                  <a:srgbClr val="5D4157"/>
                </a:solidFill>
                <a:latin typeface="Aptos" pitchFamily="34" charset="0"/>
                <a:ea typeface="Aptos" pitchFamily="34" charset="-122"/>
                <a:cs typeface="Aptos" pitchFamily="34" charset="-120"/>
              </a:rPr>
              <a:t>Attribution</a:t>
            </a:r>
            <a:endParaRPr lang="en-US" sz="1200" dirty="0"/>
          </a:p>
        </p:txBody>
      </p:sp>
      <p:sp>
        <p:nvSpPr>
          <p:cNvPr id="15" name="Shape 13"/>
          <p:cNvSpPr/>
          <p:nvPr/>
        </p:nvSpPr>
        <p:spPr>
          <a:xfrm>
            <a:off x="8942832" y="3543300"/>
            <a:ext cx="1828800" cy="301752"/>
          </a:xfrm>
          <a:prstGeom prst="roundRect">
            <a:avLst>
              <a:gd name="adj" fmla="val 12121"/>
            </a:avLst>
          </a:prstGeom>
          <a:solidFill>
            <a:srgbClr val="F7F6F2">
              <a:alpha val="0"/>
            </a:srgbClr>
          </a:solidFill>
          <a:ln w="15240">
            <a:solidFill>
              <a:srgbClr val="C65D2E"/>
            </a:solidFill>
            <a:prstDash val="solid"/>
          </a:ln>
        </p:spPr>
        <p:txBody>
          <a:bodyPr/>
          <a:lstStyle/>
          <a:p>
            <a:endParaRPr lang="en-ZA"/>
          </a:p>
        </p:txBody>
      </p:sp>
      <p:sp>
        <p:nvSpPr>
          <p:cNvPr id="16" name="Text 14"/>
          <p:cNvSpPr/>
          <p:nvPr/>
        </p:nvSpPr>
        <p:spPr>
          <a:xfrm>
            <a:off x="8764524" y="3637533"/>
            <a:ext cx="2185416" cy="109728"/>
          </a:xfrm>
          <a:prstGeom prst="rect">
            <a:avLst/>
          </a:prstGeom>
          <a:noFill/>
          <a:ln/>
        </p:spPr>
        <p:txBody>
          <a:bodyPr wrap="square" lIns="0" tIns="0" rIns="0" bIns="0" rtlCol="0" anchor="ctr"/>
          <a:lstStyle/>
          <a:p>
            <a:pPr marL="0" indent="0" algn="ctr">
              <a:buNone/>
            </a:pPr>
            <a:r>
              <a:rPr lang="en-US" sz="1200" b="1" dirty="0">
                <a:solidFill>
                  <a:srgbClr val="C65D2E"/>
                </a:solidFill>
                <a:latin typeface="Aptos" pitchFamily="34" charset="0"/>
                <a:ea typeface="Aptos" pitchFamily="34" charset="-122"/>
                <a:cs typeface="Aptos" pitchFamily="34" charset="-120"/>
              </a:rPr>
              <a:t>Causal modelling</a:t>
            </a:r>
            <a:endParaRPr lang="en-US" sz="1200" dirty="0"/>
          </a:p>
        </p:txBody>
      </p:sp>
      <p:sp>
        <p:nvSpPr>
          <p:cNvPr id="17" name="Shape 15"/>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1578903" y="5687569"/>
            <a:ext cx="2560320" cy="164592"/>
          </a:xfrm>
          <a:prstGeom prst="rect">
            <a:avLst/>
          </a:prstGeom>
          <a:noFill/>
          <a:ln/>
        </p:spPr>
        <p:txBody>
          <a:bodyPr wrap="square" lIns="0" tIns="0" rIns="0" bIns="0" rtlCol="0" anchor="ctr"/>
          <a:lstStyle/>
          <a:p>
            <a:pPr marL="0" indent="0">
              <a:buNone/>
            </a:pP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7A7A7A"/>
          </a:solidFill>
          <a:ln w="12700">
            <a:solidFill>
              <a:srgbClr val="7A7A7A">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One business question, four analytical tasks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6" name="Text 14"/>
          <p:cNvSpPr/>
          <p:nvPr/>
        </p:nvSpPr>
        <p:spPr>
          <a:xfrm>
            <a:off x="4892040" y="6556248"/>
            <a:ext cx="2377440" cy="164592"/>
          </a:xfrm>
          <a:prstGeom prst="rect">
            <a:avLst/>
          </a:prstGeom>
          <a:noFill/>
          <a:ln/>
        </p:spPr>
        <p:txBody>
          <a:bodyPr wrap="square" lIns="0" tIns="0" rIns="0" bIns="0" rtlCol="0" anchor="ctr"/>
          <a:lstStyle/>
          <a:p>
            <a:pPr marL="0" indent="0" algn="ctr">
              <a:buNone/>
            </a:pPr>
            <a:endParaRPr lang="en-US" sz="750" dirty="0"/>
          </a:p>
        </p:txBody>
      </p:sp>
      <p:sp>
        <p:nvSpPr>
          <p:cNvPr id="18" name="Text 16"/>
          <p:cNvSpPr/>
          <p:nvPr/>
        </p:nvSpPr>
        <p:spPr>
          <a:xfrm>
            <a:off x="685800" y="1078992"/>
            <a:ext cx="9601200" cy="310896"/>
          </a:xfrm>
          <a:prstGeom prst="rect">
            <a:avLst/>
          </a:prstGeom>
          <a:noFill/>
          <a:ln/>
        </p:spPr>
        <p:txBody>
          <a:bodyPr wrap="square" lIns="0" tIns="0" rIns="0" bIns="0" rtlCol="0" anchor="ctr"/>
          <a:lstStyle/>
          <a:p>
            <a:pPr marL="0" indent="0">
              <a:buNone/>
            </a:pPr>
            <a:r>
              <a:rPr lang="en-US" sz="1650" b="1" i="1" dirty="0">
                <a:latin typeface="Aptos Display" pitchFamily="34" charset="0"/>
                <a:ea typeface="Aptos Display" pitchFamily="34" charset="-122"/>
                <a:cs typeface="Aptos Display" pitchFamily="34" charset="-120"/>
              </a:rPr>
              <a:t>“Why are customers leaving?” </a:t>
            </a:r>
            <a:r>
              <a:rPr lang="en-US" sz="1650" b="1" dirty="0">
                <a:solidFill>
                  <a:srgbClr val="2B2A28"/>
                </a:solidFill>
                <a:latin typeface="Aptos Display" pitchFamily="34" charset="0"/>
                <a:ea typeface="Aptos Display" pitchFamily="34" charset="-122"/>
                <a:cs typeface="Aptos Display" pitchFamily="34" charset="-120"/>
              </a:rPr>
              <a:t>can mean four very different things.</a:t>
            </a:r>
            <a:endParaRPr lang="en-US" sz="1650" dirty="0"/>
          </a:p>
        </p:txBody>
      </p:sp>
      <p:sp>
        <p:nvSpPr>
          <p:cNvPr id="19" name="Text 17"/>
          <p:cNvSpPr/>
          <p:nvPr/>
        </p:nvSpPr>
        <p:spPr>
          <a:xfrm>
            <a:off x="1183393" y="1554480"/>
            <a:ext cx="1476756" cy="475488"/>
          </a:xfrm>
          <a:prstGeom prst="rect">
            <a:avLst/>
          </a:prstGeom>
          <a:solidFill>
            <a:srgbClr val="2B2A28"/>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Analytical task</a:t>
            </a:r>
            <a:endParaRPr lang="en-US" sz="1100" dirty="0"/>
          </a:p>
        </p:txBody>
      </p:sp>
      <p:sp>
        <p:nvSpPr>
          <p:cNvPr id="20" name="Text 18"/>
          <p:cNvSpPr/>
          <p:nvPr/>
        </p:nvSpPr>
        <p:spPr>
          <a:xfrm>
            <a:off x="2683764" y="1554480"/>
            <a:ext cx="2025396" cy="475488"/>
          </a:xfrm>
          <a:prstGeom prst="rect">
            <a:avLst/>
          </a:prstGeom>
          <a:solidFill>
            <a:srgbClr val="2B2A28"/>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Core question</a:t>
            </a:r>
            <a:endParaRPr lang="en-US" sz="1100" dirty="0"/>
          </a:p>
        </p:txBody>
      </p:sp>
      <p:sp>
        <p:nvSpPr>
          <p:cNvPr id="21" name="Text 19"/>
          <p:cNvSpPr/>
          <p:nvPr/>
        </p:nvSpPr>
        <p:spPr>
          <a:xfrm>
            <a:off x="4741164" y="1554480"/>
            <a:ext cx="3396996" cy="475488"/>
          </a:xfrm>
          <a:prstGeom prst="rect">
            <a:avLst/>
          </a:prstGeom>
          <a:solidFill>
            <a:srgbClr val="2B2A28"/>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Churn example</a:t>
            </a:r>
            <a:endParaRPr lang="en-US" sz="1100" dirty="0"/>
          </a:p>
        </p:txBody>
      </p:sp>
      <p:sp>
        <p:nvSpPr>
          <p:cNvPr id="22" name="Text 20"/>
          <p:cNvSpPr/>
          <p:nvPr/>
        </p:nvSpPr>
        <p:spPr>
          <a:xfrm>
            <a:off x="8170164" y="1554480"/>
            <a:ext cx="2939796" cy="475488"/>
          </a:xfrm>
          <a:prstGeom prst="rect">
            <a:avLst/>
          </a:prstGeom>
          <a:solidFill>
            <a:srgbClr val="2B2A28"/>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Suitable methods</a:t>
            </a:r>
            <a:endParaRPr lang="en-US" sz="1100" dirty="0"/>
          </a:p>
        </p:txBody>
      </p:sp>
      <p:sp>
        <p:nvSpPr>
          <p:cNvPr id="23" name="Text 21"/>
          <p:cNvSpPr/>
          <p:nvPr/>
        </p:nvSpPr>
        <p:spPr>
          <a:xfrm>
            <a:off x="1175004" y="2029968"/>
            <a:ext cx="1476756" cy="758952"/>
          </a:xfrm>
          <a:prstGeom prst="rect">
            <a:avLst/>
          </a:prstGeom>
          <a:solidFill>
            <a:srgbClr val="E4F0F1"/>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1F2933"/>
                </a:solidFill>
                <a:latin typeface="Aptos" pitchFamily="34" charset="0"/>
                <a:ea typeface="Aptos" pitchFamily="34" charset="-122"/>
                <a:cs typeface="Aptos" pitchFamily="34" charset="-120"/>
              </a:rPr>
              <a:t>Prediction</a:t>
            </a:r>
            <a:endParaRPr lang="en-US" sz="1100" dirty="0"/>
          </a:p>
        </p:txBody>
      </p:sp>
      <p:sp>
        <p:nvSpPr>
          <p:cNvPr id="24" name="Text 22"/>
          <p:cNvSpPr/>
          <p:nvPr/>
        </p:nvSpPr>
        <p:spPr>
          <a:xfrm>
            <a:off x="2683764" y="2029968"/>
            <a:ext cx="2025396" cy="758952"/>
          </a:xfrm>
          <a:prstGeom prst="rect">
            <a:avLst/>
          </a:prstGeom>
          <a:solidFill>
            <a:srgbClr val="E4F0F1"/>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Who is likely to churn?</a:t>
            </a:r>
            <a:endParaRPr lang="en-US" sz="1100" dirty="0"/>
          </a:p>
        </p:txBody>
      </p:sp>
      <p:sp>
        <p:nvSpPr>
          <p:cNvPr id="25" name="Text 23"/>
          <p:cNvSpPr/>
          <p:nvPr/>
        </p:nvSpPr>
        <p:spPr>
          <a:xfrm>
            <a:off x="4741164" y="2029968"/>
            <a:ext cx="3396996" cy="758952"/>
          </a:xfrm>
          <a:prstGeom prst="rect">
            <a:avLst/>
          </a:prstGeom>
          <a:solidFill>
            <a:srgbClr val="E4F0F1"/>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Which customers should be prioritised for retention activity?</a:t>
            </a:r>
            <a:endParaRPr lang="en-US" sz="1100" dirty="0"/>
          </a:p>
        </p:txBody>
      </p:sp>
      <p:sp>
        <p:nvSpPr>
          <p:cNvPr id="26" name="Text 24"/>
          <p:cNvSpPr/>
          <p:nvPr/>
        </p:nvSpPr>
        <p:spPr>
          <a:xfrm>
            <a:off x="8170164" y="2029968"/>
            <a:ext cx="2939796" cy="758952"/>
          </a:xfrm>
          <a:prstGeom prst="rect">
            <a:avLst/>
          </a:prstGeom>
          <a:solidFill>
            <a:srgbClr val="E4F0F1"/>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XGBoost, random forest, </a:t>
            </a:r>
          </a:p>
          <a:p>
            <a:pPr marL="0" indent="0" algn="ctr">
              <a:buNone/>
            </a:pPr>
            <a:r>
              <a:rPr lang="en-US" sz="1100" dirty="0">
                <a:solidFill>
                  <a:srgbClr val="1F2933"/>
                </a:solidFill>
                <a:latin typeface="Aptos" pitchFamily="34" charset="0"/>
                <a:ea typeface="Aptos" pitchFamily="34" charset="-122"/>
                <a:cs typeface="Aptos" pitchFamily="34" charset="-120"/>
              </a:rPr>
              <a:t>logistic regression</a:t>
            </a:r>
            <a:endParaRPr lang="en-US" sz="1100" dirty="0"/>
          </a:p>
        </p:txBody>
      </p:sp>
      <p:sp>
        <p:nvSpPr>
          <p:cNvPr id="27" name="Text 25"/>
          <p:cNvSpPr/>
          <p:nvPr/>
        </p:nvSpPr>
        <p:spPr>
          <a:xfrm>
            <a:off x="1175004" y="2788920"/>
            <a:ext cx="1476756" cy="758952"/>
          </a:xfrm>
          <a:prstGeom prst="rect">
            <a:avLst/>
          </a:prstGeom>
          <a:solidFill>
            <a:srgbClr val="E7EEF6"/>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1F2933"/>
                </a:solidFill>
                <a:latin typeface="Aptos" pitchFamily="34" charset="0"/>
                <a:ea typeface="Aptos" pitchFamily="34" charset="-122"/>
                <a:cs typeface="Aptos" pitchFamily="34" charset="-120"/>
              </a:rPr>
              <a:t>Model explanation</a:t>
            </a:r>
            <a:endParaRPr lang="en-US" sz="1100" dirty="0"/>
          </a:p>
        </p:txBody>
      </p:sp>
      <p:sp>
        <p:nvSpPr>
          <p:cNvPr id="28" name="Text 26"/>
          <p:cNvSpPr/>
          <p:nvPr/>
        </p:nvSpPr>
        <p:spPr>
          <a:xfrm>
            <a:off x="2683764" y="2788920"/>
            <a:ext cx="2025396" cy="758952"/>
          </a:xfrm>
          <a:prstGeom prst="rect">
            <a:avLst/>
          </a:prstGeom>
          <a:solidFill>
            <a:srgbClr val="E7EEF6"/>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Why did the model flag this customer?</a:t>
            </a:r>
            <a:endParaRPr lang="en-US" sz="1100" dirty="0"/>
          </a:p>
        </p:txBody>
      </p:sp>
      <p:sp>
        <p:nvSpPr>
          <p:cNvPr id="29" name="Text 27"/>
          <p:cNvSpPr/>
          <p:nvPr/>
        </p:nvSpPr>
        <p:spPr>
          <a:xfrm>
            <a:off x="4741164" y="2788920"/>
            <a:ext cx="3396996" cy="758952"/>
          </a:xfrm>
          <a:prstGeom prst="rect">
            <a:avLst/>
          </a:prstGeom>
          <a:solidFill>
            <a:srgbClr val="E7EEF6"/>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Which features pushed this customer’s churn risk</a:t>
            </a:r>
          </a:p>
          <a:p>
            <a:pPr marL="0" indent="0" algn="ctr">
              <a:buNone/>
            </a:pPr>
            <a:r>
              <a:rPr lang="en-US" sz="1100" dirty="0">
                <a:solidFill>
                  <a:srgbClr val="1F2933"/>
                </a:solidFill>
                <a:latin typeface="Aptos" pitchFamily="34" charset="0"/>
                <a:ea typeface="Aptos" pitchFamily="34" charset="-122"/>
                <a:cs typeface="Aptos" pitchFamily="34" charset="-120"/>
              </a:rPr>
              <a:t>up or down?</a:t>
            </a:r>
            <a:endParaRPr lang="en-US" sz="1100" dirty="0"/>
          </a:p>
        </p:txBody>
      </p:sp>
      <p:sp>
        <p:nvSpPr>
          <p:cNvPr id="30" name="Text 28"/>
          <p:cNvSpPr/>
          <p:nvPr/>
        </p:nvSpPr>
        <p:spPr>
          <a:xfrm>
            <a:off x="8170164" y="2788920"/>
            <a:ext cx="2939796" cy="758952"/>
          </a:xfrm>
          <a:prstGeom prst="rect">
            <a:avLst/>
          </a:prstGeom>
          <a:solidFill>
            <a:srgbClr val="E7EEF6"/>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SHAP values, feature importance, partial dependence</a:t>
            </a:r>
            <a:endParaRPr lang="en-US" sz="1100" dirty="0"/>
          </a:p>
        </p:txBody>
      </p:sp>
      <p:sp>
        <p:nvSpPr>
          <p:cNvPr id="31" name="Text 29"/>
          <p:cNvSpPr/>
          <p:nvPr/>
        </p:nvSpPr>
        <p:spPr>
          <a:xfrm>
            <a:off x="1175004" y="3547872"/>
            <a:ext cx="1476756" cy="758952"/>
          </a:xfrm>
          <a:prstGeom prst="rect">
            <a:avLst/>
          </a:prstGeom>
          <a:solidFill>
            <a:srgbClr val="EEE8EE"/>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1F2933"/>
                </a:solidFill>
                <a:latin typeface="Aptos" pitchFamily="34" charset="0"/>
                <a:ea typeface="Aptos" pitchFamily="34" charset="-122"/>
                <a:cs typeface="Aptos" pitchFamily="34" charset="-120"/>
              </a:rPr>
              <a:t>Attribution</a:t>
            </a:r>
            <a:endParaRPr lang="en-US" sz="1100" dirty="0"/>
          </a:p>
        </p:txBody>
      </p:sp>
      <p:sp>
        <p:nvSpPr>
          <p:cNvPr id="32" name="Text 30"/>
          <p:cNvSpPr/>
          <p:nvPr/>
        </p:nvSpPr>
        <p:spPr>
          <a:xfrm>
            <a:off x="2683764" y="3547872"/>
            <a:ext cx="2025396" cy="758952"/>
          </a:xfrm>
          <a:prstGeom prst="rect">
            <a:avLst/>
          </a:prstGeom>
          <a:solidFill>
            <a:srgbClr val="EEE8EE"/>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Which factors are associated</a:t>
            </a:r>
          </a:p>
          <a:p>
            <a:pPr marL="0" indent="0" algn="ctr">
              <a:buNone/>
            </a:pPr>
            <a:r>
              <a:rPr lang="en-US" sz="1100" dirty="0">
                <a:solidFill>
                  <a:srgbClr val="1F2933"/>
                </a:solidFill>
                <a:latin typeface="Aptos" pitchFamily="34" charset="0"/>
                <a:ea typeface="Aptos" pitchFamily="34" charset="-122"/>
                <a:cs typeface="Aptos" pitchFamily="34" charset="-120"/>
              </a:rPr>
              <a:t>with churn?</a:t>
            </a:r>
            <a:endParaRPr lang="en-US" sz="1100" dirty="0"/>
          </a:p>
        </p:txBody>
      </p:sp>
      <p:sp>
        <p:nvSpPr>
          <p:cNvPr id="33" name="Text 31"/>
          <p:cNvSpPr/>
          <p:nvPr/>
        </p:nvSpPr>
        <p:spPr>
          <a:xfrm>
            <a:off x="4741164" y="3547872"/>
            <a:ext cx="3396996" cy="758952"/>
          </a:xfrm>
          <a:prstGeom prst="rect">
            <a:avLst/>
          </a:prstGeom>
          <a:solidFill>
            <a:srgbClr val="EEE8EE"/>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Are month-to-month contracts related to churn,</a:t>
            </a:r>
          </a:p>
          <a:p>
            <a:pPr marL="0" indent="0" algn="ctr">
              <a:buNone/>
            </a:pPr>
            <a:r>
              <a:rPr lang="en-US" sz="1100" dirty="0">
                <a:solidFill>
                  <a:srgbClr val="1F2933"/>
                </a:solidFill>
                <a:latin typeface="Aptos" pitchFamily="34" charset="0"/>
                <a:ea typeface="Aptos" pitchFamily="34" charset="-122"/>
                <a:cs typeface="Aptos" pitchFamily="34" charset="-120"/>
              </a:rPr>
              <a:t>controlling for tenure and services?</a:t>
            </a:r>
            <a:endParaRPr lang="en-US" sz="1100" dirty="0"/>
          </a:p>
        </p:txBody>
      </p:sp>
      <p:sp>
        <p:nvSpPr>
          <p:cNvPr id="34" name="Text 32"/>
          <p:cNvSpPr/>
          <p:nvPr/>
        </p:nvSpPr>
        <p:spPr>
          <a:xfrm>
            <a:off x="8170164" y="3547872"/>
            <a:ext cx="2939796" cy="758952"/>
          </a:xfrm>
          <a:prstGeom prst="rect">
            <a:avLst/>
          </a:prstGeom>
          <a:solidFill>
            <a:srgbClr val="EEE8EE"/>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Logistic regression, GAMs, GAMMs,</a:t>
            </a:r>
          </a:p>
          <a:p>
            <a:pPr marL="0" indent="0" algn="ctr">
              <a:buNone/>
            </a:pPr>
            <a:r>
              <a:rPr lang="en-US" sz="1100" dirty="0">
                <a:solidFill>
                  <a:srgbClr val="1F2933"/>
                </a:solidFill>
                <a:latin typeface="Aptos" pitchFamily="34" charset="0"/>
                <a:ea typeface="Aptos" pitchFamily="34" charset="-122"/>
                <a:cs typeface="Aptos" pitchFamily="34" charset="-120"/>
              </a:rPr>
              <a:t>mixed models</a:t>
            </a:r>
            <a:endParaRPr lang="en-US" sz="1100" dirty="0"/>
          </a:p>
        </p:txBody>
      </p:sp>
      <p:sp>
        <p:nvSpPr>
          <p:cNvPr id="35" name="Text 33"/>
          <p:cNvSpPr/>
          <p:nvPr/>
        </p:nvSpPr>
        <p:spPr>
          <a:xfrm>
            <a:off x="1175004" y="4306824"/>
            <a:ext cx="1476756" cy="758952"/>
          </a:xfrm>
          <a:prstGeom prst="rect">
            <a:avLst/>
          </a:prstGeom>
          <a:solidFill>
            <a:srgbClr val="F2E5DA"/>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1F2933"/>
                </a:solidFill>
                <a:latin typeface="Aptos" pitchFamily="34" charset="0"/>
                <a:ea typeface="Aptos" pitchFamily="34" charset="-122"/>
                <a:cs typeface="Aptos" pitchFamily="34" charset="-120"/>
              </a:rPr>
              <a:t>Causal effect estimation</a:t>
            </a:r>
            <a:endParaRPr lang="en-US" sz="1100" dirty="0"/>
          </a:p>
        </p:txBody>
      </p:sp>
      <p:sp>
        <p:nvSpPr>
          <p:cNvPr id="36" name="Text 34"/>
          <p:cNvSpPr/>
          <p:nvPr/>
        </p:nvSpPr>
        <p:spPr>
          <a:xfrm>
            <a:off x="2683764" y="4306824"/>
            <a:ext cx="2025396" cy="758952"/>
          </a:xfrm>
          <a:prstGeom prst="rect">
            <a:avLst/>
          </a:prstGeom>
          <a:solidFill>
            <a:srgbClr val="F2E5DA"/>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What would happen if we</a:t>
            </a:r>
          </a:p>
          <a:p>
            <a:pPr marL="0" indent="0" algn="ctr">
              <a:buNone/>
            </a:pPr>
            <a:r>
              <a:rPr lang="en-US" sz="1100" dirty="0">
                <a:solidFill>
                  <a:srgbClr val="1F2933"/>
                </a:solidFill>
                <a:latin typeface="Aptos" pitchFamily="34" charset="0"/>
                <a:ea typeface="Aptos" pitchFamily="34" charset="-122"/>
                <a:cs typeface="Aptos" pitchFamily="34" charset="-120"/>
              </a:rPr>
              <a:t>changed something?</a:t>
            </a:r>
            <a:endParaRPr lang="en-US" sz="1100" dirty="0"/>
          </a:p>
        </p:txBody>
      </p:sp>
      <p:sp>
        <p:nvSpPr>
          <p:cNvPr id="37" name="Text 35"/>
          <p:cNvSpPr/>
          <p:nvPr/>
        </p:nvSpPr>
        <p:spPr>
          <a:xfrm>
            <a:off x="4741164" y="4306824"/>
            <a:ext cx="3396996" cy="758952"/>
          </a:xfrm>
          <a:prstGeom prst="rect">
            <a:avLst/>
          </a:prstGeom>
          <a:solidFill>
            <a:srgbClr val="F2E5DA"/>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Did a retention call or loyalty discount reduce churn?</a:t>
            </a:r>
            <a:endParaRPr lang="en-US" sz="1100" dirty="0"/>
          </a:p>
        </p:txBody>
      </p:sp>
      <p:sp>
        <p:nvSpPr>
          <p:cNvPr id="38" name="Text 36"/>
          <p:cNvSpPr/>
          <p:nvPr/>
        </p:nvSpPr>
        <p:spPr>
          <a:xfrm>
            <a:off x="8170164" y="4306824"/>
            <a:ext cx="2939796" cy="758952"/>
          </a:xfrm>
          <a:prstGeom prst="rect">
            <a:avLst/>
          </a:prstGeom>
          <a:solidFill>
            <a:srgbClr val="F2E5DA"/>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SEM, propensity score matching,</a:t>
            </a:r>
          </a:p>
          <a:p>
            <a:pPr marL="0" indent="0" algn="ctr">
              <a:buNone/>
            </a:pPr>
            <a:r>
              <a:rPr lang="en-US" sz="1100" dirty="0">
                <a:solidFill>
                  <a:srgbClr val="1F2933"/>
                </a:solidFill>
                <a:latin typeface="Aptos" pitchFamily="34" charset="0"/>
                <a:ea typeface="Aptos" pitchFamily="34" charset="-122"/>
                <a:cs typeface="Aptos" pitchFamily="34" charset="-120"/>
              </a:rPr>
              <a:t>difference-in-differences</a:t>
            </a:r>
            <a:endParaRPr lang="en-US" sz="1100" dirty="0"/>
          </a:p>
        </p:txBody>
      </p:sp>
      <p:sp>
        <p:nvSpPr>
          <p:cNvPr id="40" name="Text 38"/>
          <p:cNvSpPr/>
          <p:nvPr/>
        </p:nvSpPr>
        <p:spPr>
          <a:xfrm>
            <a:off x="1371600" y="5559552"/>
            <a:ext cx="7717536" cy="493776"/>
          </a:xfrm>
          <a:prstGeom prst="rect">
            <a:avLst/>
          </a:prstGeom>
          <a:noFill/>
          <a:ln/>
        </p:spPr>
        <p:txBody>
          <a:bodyPr wrap="square" lIns="254" tIns="254" rIns="254" bIns="254" rtlCol="0" anchor="ctr">
            <a:noAutofit/>
          </a:bodyPr>
          <a:lstStyle/>
          <a:p>
            <a:pPr marL="0" indent="0" algn="ctr">
              <a:buNone/>
            </a:pPr>
            <a:r>
              <a:rPr lang="en-US" b="1" dirty="0">
                <a:solidFill>
                  <a:srgbClr val="1F2933"/>
                </a:solidFill>
                <a:latin typeface="Aptos" pitchFamily="34" charset="0"/>
                <a:ea typeface="Aptos" pitchFamily="34" charset="-122"/>
                <a:cs typeface="Aptos" pitchFamily="34" charset="-120"/>
              </a:rPr>
              <a:t>The first step is not choosing the most sophisticated method — </a:t>
            </a:r>
            <a:r>
              <a:rPr lang="en-US" b="1" i="1" dirty="0">
                <a:solidFill>
                  <a:srgbClr val="1F2933"/>
                </a:solidFill>
                <a:latin typeface="Aptos" pitchFamily="34" charset="0"/>
                <a:ea typeface="Aptos" pitchFamily="34" charset="-122"/>
                <a:cs typeface="Aptos" pitchFamily="34" charset="-120"/>
              </a:rPr>
              <a:t>it is clarifying the question and whether the data can support the answer.</a:t>
            </a:r>
            <a:endParaRPr lang="en-US" b="1"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7A7A7A"/>
          </a:solidFill>
          <a:ln w="12700">
            <a:solidFill>
              <a:srgbClr val="7A7A7A">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Running example: customer churn data and extensions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713232" y="1216152"/>
            <a:ext cx="3291840" cy="201168"/>
          </a:xfrm>
          <a:prstGeom prst="rect">
            <a:avLst/>
          </a:prstGeom>
          <a:noFill/>
          <a:ln/>
        </p:spPr>
        <p:txBody>
          <a:bodyPr wrap="square" lIns="0" tIns="0" rIns="0" bIns="0" rtlCol="0" anchor="ctr"/>
          <a:lstStyle/>
          <a:p>
            <a:pPr marL="0" indent="0" algn="ctr">
              <a:buNone/>
            </a:pPr>
            <a:r>
              <a:rPr lang="en-US" sz="1600" b="1" dirty="0">
                <a:solidFill>
                  <a:srgbClr val="7A7A7A"/>
                </a:solidFill>
                <a:latin typeface="Aptos" pitchFamily="34" charset="0"/>
                <a:ea typeface="Aptos" pitchFamily="34" charset="-122"/>
                <a:cs typeface="Aptos" pitchFamily="34" charset="-120"/>
              </a:rPr>
              <a:t>Base Telco churn dataset</a:t>
            </a:r>
            <a:endParaRPr lang="en-US" sz="1600" dirty="0"/>
          </a:p>
        </p:txBody>
      </p:sp>
      <p:sp>
        <p:nvSpPr>
          <p:cNvPr id="19" name="Shape 17"/>
          <p:cNvSpPr/>
          <p:nvPr/>
        </p:nvSpPr>
        <p:spPr>
          <a:xfrm>
            <a:off x="713232" y="1463040"/>
            <a:ext cx="3291840" cy="0"/>
          </a:xfrm>
          <a:prstGeom prst="line">
            <a:avLst/>
          </a:prstGeom>
          <a:noFill/>
          <a:ln w="19050">
            <a:solidFill>
              <a:srgbClr val="7A7A7A"/>
            </a:solidFill>
            <a:prstDash val="solid"/>
          </a:ln>
        </p:spPr>
        <p:txBody>
          <a:bodyPr/>
          <a:lstStyle/>
          <a:p>
            <a:endParaRPr lang="en-ZA"/>
          </a:p>
        </p:txBody>
      </p:sp>
      <p:sp>
        <p:nvSpPr>
          <p:cNvPr id="20" name="Text 18"/>
          <p:cNvSpPr/>
          <p:nvPr/>
        </p:nvSpPr>
        <p:spPr>
          <a:xfrm>
            <a:off x="4617720" y="1216152"/>
            <a:ext cx="2560320" cy="201168"/>
          </a:xfrm>
          <a:prstGeom prst="rect">
            <a:avLst/>
          </a:prstGeom>
          <a:noFill/>
          <a:ln/>
        </p:spPr>
        <p:txBody>
          <a:bodyPr wrap="square" lIns="0" tIns="0" rIns="0" bIns="0" rtlCol="0" anchor="ctr"/>
          <a:lstStyle/>
          <a:p>
            <a:pPr marL="0" indent="0" algn="ctr">
              <a:buNone/>
            </a:pPr>
            <a:r>
              <a:rPr lang="en-US" sz="1600" b="1" dirty="0">
                <a:solidFill>
                  <a:srgbClr val="5D4157"/>
                </a:solidFill>
                <a:latin typeface="Aptos" pitchFamily="34" charset="0"/>
                <a:ea typeface="Aptos" pitchFamily="34" charset="-122"/>
                <a:cs typeface="Aptos" pitchFamily="34" charset="-120"/>
              </a:rPr>
              <a:t>Survey extension</a:t>
            </a:r>
            <a:endParaRPr lang="en-US" sz="1600" dirty="0"/>
          </a:p>
        </p:txBody>
      </p:sp>
      <p:sp>
        <p:nvSpPr>
          <p:cNvPr id="21" name="Shape 19"/>
          <p:cNvSpPr/>
          <p:nvPr/>
        </p:nvSpPr>
        <p:spPr>
          <a:xfrm>
            <a:off x="4617720" y="1463040"/>
            <a:ext cx="2560320" cy="0"/>
          </a:xfrm>
          <a:prstGeom prst="line">
            <a:avLst/>
          </a:prstGeom>
          <a:noFill/>
          <a:ln w="19050">
            <a:solidFill>
              <a:srgbClr val="5D4157"/>
            </a:solidFill>
            <a:prstDash val="solid"/>
          </a:ln>
        </p:spPr>
        <p:txBody>
          <a:bodyPr/>
          <a:lstStyle/>
          <a:p>
            <a:endParaRPr lang="en-ZA"/>
          </a:p>
        </p:txBody>
      </p:sp>
      <p:sp>
        <p:nvSpPr>
          <p:cNvPr id="22" name="Text 20"/>
          <p:cNvSpPr/>
          <p:nvPr/>
        </p:nvSpPr>
        <p:spPr>
          <a:xfrm>
            <a:off x="8229600" y="1216152"/>
            <a:ext cx="2743200" cy="201168"/>
          </a:xfrm>
          <a:prstGeom prst="rect">
            <a:avLst/>
          </a:prstGeom>
          <a:noFill/>
          <a:ln/>
        </p:spPr>
        <p:txBody>
          <a:bodyPr wrap="square" lIns="0" tIns="0" rIns="0" bIns="0" rtlCol="0" anchor="ctr"/>
          <a:lstStyle/>
          <a:p>
            <a:pPr marL="0" indent="0" algn="ctr">
              <a:buNone/>
            </a:pPr>
            <a:r>
              <a:rPr lang="en-US" sz="1600" b="1" dirty="0">
                <a:solidFill>
                  <a:srgbClr val="C65D2E"/>
                </a:solidFill>
                <a:latin typeface="Aptos" pitchFamily="34" charset="0"/>
                <a:ea typeface="Aptos" pitchFamily="34" charset="-122"/>
                <a:cs typeface="Aptos" pitchFamily="34" charset="-120"/>
              </a:rPr>
              <a:t>Intervention extension</a:t>
            </a:r>
            <a:endParaRPr lang="en-US" sz="1600" dirty="0"/>
          </a:p>
        </p:txBody>
      </p:sp>
      <p:sp>
        <p:nvSpPr>
          <p:cNvPr id="23" name="Shape 21"/>
          <p:cNvSpPr/>
          <p:nvPr/>
        </p:nvSpPr>
        <p:spPr>
          <a:xfrm>
            <a:off x="8229600" y="1463040"/>
            <a:ext cx="2743200" cy="0"/>
          </a:xfrm>
          <a:prstGeom prst="line">
            <a:avLst/>
          </a:prstGeom>
          <a:noFill/>
          <a:ln w="19050">
            <a:solidFill>
              <a:srgbClr val="C65D2E"/>
            </a:solidFill>
            <a:prstDash val="solid"/>
          </a:ln>
        </p:spPr>
        <p:txBody>
          <a:bodyPr/>
          <a:lstStyle/>
          <a:p>
            <a:endParaRPr lang="en-ZA"/>
          </a:p>
        </p:txBody>
      </p:sp>
      <p:sp>
        <p:nvSpPr>
          <p:cNvPr id="26" name="Text 24"/>
          <p:cNvSpPr/>
          <p:nvPr/>
        </p:nvSpPr>
        <p:spPr>
          <a:xfrm>
            <a:off x="777240" y="1828800"/>
            <a:ext cx="3182112" cy="18288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Customer profile, account, services and charges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Observed outcome: churn (Yes/No) </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Useful for prediction, model explanation and association</a:t>
            </a:r>
            <a:endParaRPr lang="en-US" sz="1600" dirty="0"/>
          </a:p>
        </p:txBody>
      </p:sp>
      <p:sp>
        <p:nvSpPr>
          <p:cNvPr id="28" name="Text 26"/>
          <p:cNvSpPr/>
          <p:nvPr/>
        </p:nvSpPr>
        <p:spPr>
          <a:xfrm>
            <a:off x="4617720" y="1828800"/>
            <a:ext cx="2834640" cy="18288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Quantifies latent variables such as satisfaction, trust and value</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Enables SEM-style measurement and structural modelling</a:t>
            </a:r>
            <a:endParaRPr lang="en-US" sz="1600" dirty="0"/>
          </a:p>
        </p:txBody>
      </p:sp>
      <p:sp>
        <p:nvSpPr>
          <p:cNvPr id="29" name="Text 27"/>
          <p:cNvSpPr/>
          <p:nvPr/>
        </p:nvSpPr>
        <p:spPr>
          <a:xfrm>
            <a:off x="8229600" y="1828800"/>
            <a:ext cx="2971800" cy="18288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Collects outcomes after a treatment has been applied</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Enables causal inference around interventions</a:t>
            </a:r>
            <a:endParaRPr lang="en-US" sz="1600" dirty="0"/>
          </a:p>
        </p:txBody>
      </p:sp>
      <p:sp>
        <p:nvSpPr>
          <p:cNvPr id="30" name="Text 28"/>
          <p:cNvSpPr/>
          <p:nvPr/>
        </p:nvSpPr>
        <p:spPr>
          <a:xfrm>
            <a:off x="927608" y="4612640"/>
            <a:ext cx="10708640" cy="1440688"/>
          </a:xfrm>
          <a:prstGeom prst="rect">
            <a:avLst/>
          </a:prstGeom>
          <a:noFill/>
          <a:ln/>
        </p:spPr>
        <p:txBody>
          <a:bodyPr wrap="square" lIns="0" tIns="0" rIns="0" bIns="0" rtlCol="0" anchor="ctr"/>
          <a:lstStyle/>
          <a:p>
            <a:pPr marL="0" indent="0" algn="r">
              <a:buNone/>
            </a:pPr>
            <a:r>
              <a:rPr lang="en-US" sz="4000" b="1" dirty="0">
                <a:solidFill>
                  <a:srgbClr val="2B2A28"/>
                </a:solidFill>
                <a:latin typeface="Aptos Display" pitchFamily="34" charset="0"/>
                <a:ea typeface="Aptos Display" pitchFamily="34" charset="-122"/>
                <a:cs typeface="Aptos Display" pitchFamily="34" charset="-120"/>
              </a:rPr>
              <a:t>Base data gets us to patterns. </a:t>
            </a:r>
          </a:p>
          <a:p>
            <a:pPr marL="0" indent="0" algn="r">
              <a:buNone/>
            </a:pPr>
            <a:r>
              <a:rPr lang="en-US" sz="4000" b="1" dirty="0">
                <a:solidFill>
                  <a:srgbClr val="2B2A28"/>
                </a:solidFill>
                <a:latin typeface="Aptos Display" pitchFamily="34" charset="0"/>
                <a:ea typeface="Aptos Display" pitchFamily="34" charset="-122"/>
                <a:cs typeface="Aptos Display" pitchFamily="34" charset="-120"/>
              </a:rPr>
              <a:t>Extensions are needed for stronger causal claims.</a:t>
            </a:r>
            <a:endParaRPr lang="en-US" sz="4000" b="1" dirty="0"/>
          </a:p>
        </p:txBody>
      </p:sp>
      <p:sp>
        <p:nvSpPr>
          <p:cNvPr id="31" name="Shape 12">
            <a:extLst>
              <a:ext uri="{FF2B5EF4-FFF2-40B4-BE49-F238E27FC236}">
                <a16:creationId xmlns:a16="http://schemas.microsoft.com/office/drawing/2014/main" id="{C5ABD563-28EE-486F-9F70-4BC018BF5E38}"/>
              </a:ext>
            </a:extLst>
          </p:cNvPr>
          <p:cNvSpPr/>
          <p:nvPr/>
        </p:nvSpPr>
        <p:spPr>
          <a:xfrm flipV="1">
            <a:off x="3635586" y="4588254"/>
            <a:ext cx="7998291" cy="1"/>
          </a:xfrm>
          <a:prstGeom prst="line">
            <a:avLst/>
          </a:prstGeom>
          <a:noFill/>
          <a:ln w="7620">
            <a:solidFill>
              <a:srgbClr val="E6E0D8"/>
            </a:solidFill>
            <a:prstDash val="solid"/>
          </a:ln>
        </p:spPr>
        <p:txBody>
          <a:bodyPr/>
          <a:lstStyle/>
          <a:p>
            <a:endParaRPr lang="en-Z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5F73"/>
          </a:solidFill>
          <a:ln w="12700">
            <a:solidFill>
              <a:srgbClr val="005F73">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Prediction</a:t>
            </a:r>
            <a:endParaRPr lang="en-US" sz="2250" dirty="0"/>
          </a:p>
        </p:txBody>
      </p:sp>
      <p:sp>
        <p:nvSpPr>
          <p:cNvPr id="4" name="Shape 2"/>
          <p:cNvSpPr/>
          <p:nvPr/>
        </p:nvSpPr>
        <p:spPr>
          <a:xfrm>
            <a:off x="5623560" y="694944"/>
            <a:ext cx="1280160" cy="0"/>
          </a:xfrm>
          <a:prstGeom prst="line">
            <a:avLst/>
          </a:prstGeom>
          <a:noFill/>
          <a:ln w="35560">
            <a:solidFill>
              <a:srgbClr val="005F73"/>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b="1" dirty="0">
                <a:solidFill>
                  <a:srgbClr val="005F73"/>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115568"/>
            <a:ext cx="5029200" cy="384048"/>
          </a:xfrm>
          <a:prstGeom prst="rect">
            <a:avLst/>
          </a:prstGeom>
          <a:noFill/>
          <a:ln/>
        </p:spPr>
        <p:txBody>
          <a:bodyPr wrap="square" lIns="0" tIns="0" rIns="0" bIns="0" rtlCol="0" anchor="ctr"/>
          <a:lstStyle/>
          <a:p>
            <a:pPr marL="0" indent="0">
              <a:buNone/>
            </a:pPr>
            <a:r>
              <a:rPr lang="en-US" sz="2400" b="1" dirty="0">
                <a:solidFill>
                  <a:srgbClr val="005F73"/>
                </a:solidFill>
                <a:latin typeface="Aptos Display" pitchFamily="34" charset="0"/>
                <a:ea typeface="Aptos Display" pitchFamily="34" charset="-122"/>
                <a:cs typeface="Aptos Display" pitchFamily="34" charset="-120"/>
              </a:rPr>
              <a:t>Who is likely to churn?</a:t>
            </a:r>
            <a:endParaRPr lang="en-US" sz="2400" dirty="0"/>
          </a:p>
        </p:txBody>
      </p:sp>
      <p:sp>
        <p:nvSpPr>
          <p:cNvPr id="19" name="Text 17"/>
          <p:cNvSpPr/>
          <p:nvPr/>
        </p:nvSpPr>
        <p:spPr>
          <a:xfrm>
            <a:off x="749808" y="1783080"/>
            <a:ext cx="3502152" cy="18288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Predict the probability that a customer will churn</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Prioritise retention activity for high-risk customers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Choose models based on predictive performance</a:t>
            </a:r>
            <a:endParaRPr lang="en-US" sz="1600" dirty="0"/>
          </a:p>
        </p:txBody>
      </p:sp>
      <p:sp>
        <p:nvSpPr>
          <p:cNvPr id="21" name="Shape 19"/>
          <p:cNvSpPr/>
          <p:nvPr/>
        </p:nvSpPr>
        <p:spPr>
          <a:xfrm>
            <a:off x="5760720" y="1298448"/>
            <a:ext cx="5303520" cy="2514600"/>
          </a:xfrm>
          <a:prstGeom prst="roundRect">
            <a:avLst>
              <a:gd name="adj" fmla="val 1818"/>
            </a:avLst>
          </a:prstGeom>
          <a:solidFill>
            <a:srgbClr val="FFFFFF"/>
          </a:solidFill>
          <a:ln w="10160">
            <a:solidFill>
              <a:srgbClr val="E6E0D8"/>
            </a:solidFill>
            <a:prstDash val="solid"/>
          </a:ln>
        </p:spPr>
        <p:txBody>
          <a:bodyPr/>
          <a:lstStyle/>
          <a:p>
            <a:endParaRPr lang="en-ZA"/>
          </a:p>
        </p:txBody>
      </p:sp>
      <p:sp>
        <p:nvSpPr>
          <p:cNvPr id="22" name="Text 20"/>
          <p:cNvSpPr/>
          <p:nvPr/>
        </p:nvSpPr>
        <p:spPr>
          <a:xfrm>
            <a:off x="5907024" y="1417320"/>
            <a:ext cx="5010912" cy="182880"/>
          </a:xfrm>
          <a:prstGeom prst="rect">
            <a:avLst/>
          </a:prstGeom>
          <a:noFill/>
          <a:ln/>
        </p:spPr>
        <p:txBody>
          <a:bodyPr wrap="square" lIns="0" tIns="0" rIns="0" bIns="0" rtlCol="0" anchor="ctr"/>
          <a:lstStyle/>
          <a:p>
            <a:pPr marL="0" indent="0">
              <a:buNone/>
            </a:pPr>
            <a:r>
              <a:rPr lang="en-US" sz="1000" b="1" dirty="0">
                <a:solidFill>
                  <a:srgbClr val="2B2A28"/>
                </a:solidFill>
                <a:latin typeface="Aptos" pitchFamily="34" charset="0"/>
                <a:ea typeface="Aptos" pitchFamily="34" charset="-122"/>
                <a:cs typeface="Aptos" pitchFamily="34" charset="-120"/>
              </a:rPr>
              <a:t>Illustrative model comparison</a:t>
            </a:r>
            <a:endParaRPr lang="en-US" sz="1000" dirty="0"/>
          </a:p>
        </p:txBody>
      </p:sp>
      <p:sp>
        <p:nvSpPr>
          <p:cNvPr id="25" name="Text 22"/>
          <p:cNvSpPr/>
          <p:nvPr/>
        </p:nvSpPr>
        <p:spPr>
          <a:xfrm>
            <a:off x="3086100" y="4922011"/>
            <a:ext cx="4800600" cy="502920"/>
          </a:xfrm>
          <a:prstGeom prst="rect">
            <a:avLst/>
          </a:prstGeom>
          <a:noFill/>
          <a:ln/>
        </p:spPr>
        <p:txBody>
          <a:bodyPr wrap="square" lIns="254" tIns="254" rIns="254" bIns="254" rtlCol="0" anchor="ctr">
            <a:noAutofit/>
          </a:bodyPr>
          <a:lstStyle/>
          <a:p>
            <a:pPr marL="0" indent="0" algn="ctr">
              <a:buNone/>
            </a:pPr>
            <a:r>
              <a:rPr lang="en-US" b="1" dirty="0">
                <a:solidFill>
                  <a:srgbClr val="1F2933"/>
                </a:solidFill>
                <a:latin typeface="Aptos" pitchFamily="34" charset="0"/>
                <a:ea typeface="Aptos" pitchFamily="34" charset="-122"/>
                <a:cs typeface="Aptos" pitchFamily="34" charset="-120"/>
              </a:rPr>
              <a:t>Prediction optimises accuracy; it does not, by itself, tell us why churn happens.</a:t>
            </a:r>
            <a:endParaRPr lang="en-US" b="1" dirty="0"/>
          </a:p>
        </p:txBody>
      </p:sp>
      <p:sp>
        <p:nvSpPr>
          <p:cNvPr id="26" name="Shape 12">
            <a:extLst>
              <a:ext uri="{FF2B5EF4-FFF2-40B4-BE49-F238E27FC236}">
                <a16:creationId xmlns:a16="http://schemas.microsoft.com/office/drawing/2014/main" id="{93043865-DB15-4E8C-8633-014269071287}"/>
              </a:ext>
            </a:extLst>
          </p:cNvPr>
          <p:cNvSpPr/>
          <p:nvPr/>
        </p:nvSpPr>
        <p:spPr>
          <a:xfrm flipV="1">
            <a:off x="1624414" y="4469384"/>
            <a:ext cx="7998291" cy="1"/>
          </a:xfrm>
          <a:prstGeom prst="line">
            <a:avLst/>
          </a:prstGeom>
          <a:noFill/>
          <a:ln w="7620">
            <a:solidFill>
              <a:srgbClr val="E6E0D8"/>
            </a:solidFill>
            <a:prstDash val="solid"/>
          </a:ln>
        </p:spPr>
        <p:txBody>
          <a:bodyPr/>
          <a:lstStyle/>
          <a:p>
            <a:endParaRPr lang="en-ZA"/>
          </a:p>
        </p:txBody>
      </p:sp>
      <p:graphicFrame>
        <p:nvGraphicFramePr>
          <p:cNvPr id="12" name="Table 11">
            <a:extLst>
              <a:ext uri="{FF2B5EF4-FFF2-40B4-BE49-F238E27FC236}">
                <a16:creationId xmlns:a16="http://schemas.microsoft.com/office/drawing/2014/main" id="{68B13141-7535-C44D-8CBF-E5415E3DCC93}"/>
              </a:ext>
            </a:extLst>
          </p:cNvPr>
          <p:cNvGraphicFramePr>
            <a:graphicFrameLocks noGrp="1"/>
          </p:cNvGraphicFramePr>
          <p:nvPr>
            <p:extLst>
              <p:ext uri="{D42A27DB-BD31-4B8C-83A1-F6EECF244321}">
                <p14:modId xmlns:p14="http://schemas.microsoft.com/office/powerpoint/2010/main" val="3048676411"/>
              </p:ext>
            </p:extLst>
          </p:nvPr>
        </p:nvGraphicFramePr>
        <p:xfrm>
          <a:off x="6145700" y="1803061"/>
          <a:ext cx="4478695" cy="1543764"/>
        </p:xfrm>
        <a:graphic>
          <a:graphicData uri="http://schemas.openxmlformats.org/drawingml/2006/table">
            <a:tbl>
              <a:tblPr firstRow="1">
                <a:tableStyleId>{69012ECD-51FC-41F1-AA8D-1B2483CD663E}</a:tableStyleId>
              </a:tblPr>
              <a:tblGrid>
                <a:gridCol w="2295332">
                  <a:extLst>
                    <a:ext uri="{9D8B030D-6E8A-4147-A177-3AD203B41FA5}">
                      <a16:colId xmlns:a16="http://schemas.microsoft.com/office/drawing/2014/main" val="1024585280"/>
                    </a:ext>
                  </a:extLst>
                </a:gridCol>
                <a:gridCol w="1165124">
                  <a:extLst>
                    <a:ext uri="{9D8B030D-6E8A-4147-A177-3AD203B41FA5}">
                      <a16:colId xmlns:a16="http://schemas.microsoft.com/office/drawing/2014/main" val="287303309"/>
                    </a:ext>
                  </a:extLst>
                </a:gridCol>
                <a:gridCol w="1018239">
                  <a:extLst>
                    <a:ext uri="{9D8B030D-6E8A-4147-A177-3AD203B41FA5}">
                      <a16:colId xmlns:a16="http://schemas.microsoft.com/office/drawing/2014/main" val="2345455964"/>
                    </a:ext>
                  </a:extLst>
                </a:gridCol>
              </a:tblGrid>
              <a:tr h="0">
                <a:tc>
                  <a:txBody>
                    <a:bodyPr/>
                    <a:lstStyle/>
                    <a:p>
                      <a:pPr>
                        <a:buNone/>
                      </a:pPr>
                      <a:r>
                        <a:rPr lang="en-ZA" sz="1400"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ROC AUC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7420891"/>
                  </a:ext>
                </a:extLst>
              </a:tr>
              <a:tr h="288330">
                <a:tc>
                  <a:txBody>
                    <a:bodyPr/>
                    <a:lstStyle/>
                    <a:p>
                      <a:pPr>
                        <a:buNone/>
                      </a:pPr>
                      <a:r>
                        <a:rPr lang="en-ZA" sz="1400" dirty="0"/>
                        <a:t>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0.807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a:t>0.840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4845950"/>
                  </a:ext>
                </a:extLst>
              </a:tr>
              <a:tr h="324564">
                <a:tc>
                  <a:txBody>
                    <a:bodyPr/>
                    <a:lstStyle/>
                    <a:p>
                      <a:pPr>
                        <a:buNone/>
                      </a:pPr>
                      <a:r>
                        <a:rPr lang="en-ZA" sz="1400" dirty="0"/>
                        <a:t>Support Vector Machine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0.797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0.795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6354302"/>
                  </a:ext>
                </a:extLst>
              </a:tr>
              <a:tr h="288330">
                <a:tc>
                  <a:txBody>
                    <a:bodyPr/>
                    <a:lstStyle/>
                    <a:p>
                      <a:pPr>
                        <a:buNone/>
                      </a:pPr>
                      <a:r>
                        <a:rPr lang="en-ZA" sz="1400" dirty="0"/>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a:t>0.800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0.838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2047336"/>
                  </a:ext>
                </a:extLst>
              </a:tr>
              <a:tr h="288330">
                <a:tc>
                  <a:txBody>
                    <a:bodyPr/>
                    <a:lstStyle/>
                    <a:p>
                      <a:pPr>
                        <a:buNone/>
                      </a:pPr>
                      <a:r>
                        <a:rPr lang="en-ZA" sz="1400" dirty="0" err="1"/>
                        <a:t>XGBoost</a:t>
                      </a:r>
                      <a:endParaRPr lang="en-ZA"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a:t>0.791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0.835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223526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3A6EA5"/>
          </a:solidFill>
          <a:ln w="12700">
            <a:solidFill>
              <a:srgbClr val="3A6EA5">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SHAP values for model explanation</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35560">
            <a:solidFill>
              <a:srgbClr val="3A6EA5"/>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b="1" dirty="0">
                <a:solidFill>
                  <a:srgbClr val="3A6EA5"/>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115568"/>
            <a:ext cx="7772400" cy="384048"/>
          </a:xfrm>
          <a:prstGeom prst="rect">
            <a:avLst/>
          </a:prstGeom>
          <a:noFill/>
          <a:ln/>
        </p:spPr>
        <p:txBody>
          <a:bodyPr wrap="square" lIns="0" tIns="0" rIns="0" bIns="0" rtlCol="0" anchor="ctr"/>
          <a:lstStyle/>
          <a:p>
            <a:pPr marL="0" indent="0">
              <a:buNone/>
            </a:pPr>
            <a:r>
              <a:rPr lang="en-US" sz="2400" b="1" dirty="0">
                <a:solidFill>
                  <a:srgbClr val="3A6EA5"/>
                </a:solidFill>
                <a:latin typeface="Aptos Display" pitchFamily="34" charset="0"/>
                <a:ea typeface="Aptos Display" pitchFamily="34" charset="-122"/>
                <a:cs typeface="Aptos Display" pitchFamily="34" charset="-120"/>
              </a:rPr>
              <a:t>Why did the model make this prediction?</a:t>
            </a:r>
            <a:endParaRPr lang="en-US" sz="2400" dirty="0"/>
          </a:p>
        </p:txBody>
      </p:sp>
      <p:sp>
        <p:nvSpPr>
          <p:cNvPr id="19" name="Text 17"/>
          <p:cNvSpPr/>
          <p:nvPr/>
        </p:nvSpPr>
        <p:spPr>
          <a:xfrm>
            <a:off x="749808" y="1783080"/>
            <a:ext cx="4736592" cy="201168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SHAP explains how features contribute to a model’s prediction</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Each feature pushes the prediction higher or lower from a baseline</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Works locally for one customer and globally across customers</a:t>
            </a:r>
            <a:endParaRPr lang="en-US" sz="1600" dirty="0"/>
          </a:p>
        </p:txBody>
      </p:sp>
      <p:sp>
        <p:nvSpPr>
          <p:cNvPr id="20" name="Shape 18"/>
          <p:cNvSpPr/>
          <p:nvPr/>
        </p:nvSpPr>
        <p:spPr>
          <a:xfrm>
            <a:off x="822960" y="4023360"/>
            <a:ext cx="1691640" cy="685800"/>
          </a:xfrm>
          <a:prstGeom prst="roundRect">
            <a:avLst>
              <a:gd name="adj" fmla="val 8000"/>
            </a:avLst>
          </a:prstGeom>
          <a:solidFill>
            <a:srgbClr val="FFFFFF"/>
          </a:solidFill>
          <a:ln w="13970">
            <a:solidFill>
              <a:srgbClr val="D7D2CB"/>
            </a:solidFill>
            <a:prstDash val="solid"/>
          </a:ln>
        </p:spPr>
        <p:txBody>
          <a:bodyPr/>
          <a:lstStyle/>
          <a:p>
            <a:endParaRPr lang="en-ZA"/>
          </a:p>
        </p:txBody>
      </p:sp>
      <p:sp>
        <p:nvSpPr>
          <p:cNvPr id="21" name="Text 19"/>
          <p:cNvSpPr/>
          <p:nvPr/>
        </p:nvSpPr>
        <p:spPr>
          <a:xfrm>
            <a:off x="896112" y="4216908"/>
            <a:ext cx="1545336" cy="310896"/>
          </a:xfrm>
          <a:prstGeom prst="rect">
            <a:avLst/>
          </a:prstGeom>
          <a:noFill/>
          <a:ln/>
        </p:spPr>
        <p:txBody>
          <a:bodyPr wrap="square" lIns="0" tIns="0" rIns="0" bIns="0" rtlCol="0" anchor="ctr"/>
          <a:lstStyle/>
          <a:p>
            <a:pPr marL="0" indent="0" algn="ctr">
              <a:buNone/>
            </a:pPr>
            <a:r>
              <a:rPr lang="en-US" sz="1400" b="1" dirty="0">
                <a:solidFill>
                  <a:srgbClr val="1F2933"/>
                </a:solidFill>
                <a:latin typeface="Aptos" pitchFamily="34" charset="0"/>
                <a:ea typeface="Aptos" pitchFamily="34" charset="-122"/>
                <a:cs typeface="Aptos" pitchFamily="34" charset="-120"/>
              </a:rPr>
              <a:t>Average</a:t>
            </a:r>
            <a:endParaRPr lang="en-US" sz="1400" dirty="0"/>
          </a:p>
          <a:p>
            <a:pPr marL="0" indent="0" algn="ctr">
              <a:buNone/>
            </a:pPr>
            <a:r>
              <a:rPr lang="en-US" sz="1400" b="1" dirty="0">
                <a:solidFill>
                  <a:srgbClr val="1F2933"/>
                </a:solidFill>
                <a:latin typeface="Aptos" pitchFamily="34" charset="0"/>
                <a:ea typeface="Aptos" pitchFamily="34" charset="-122"/>
                <a:cs typeface="Aptos" pitchFamily="34" charset="-120"/>
              </a:rPr>
              <a:t>prediction</a:t>
            </a:r>
            <a:endParaRPr lang="en-US" sz="1400" dirty="0"/>
          </a:p>
        </p:txBody>
      </p:sp>
      <p:sp>
        <p:nvSpPr>
          <p:cNvPr id="22" name="Shape 20"/>
          <p:cNvSpPr/>
          <p:nvPr/>
        </p:nvSpPr>
        <p:spPr>
          <a:xfrm>
            <a:off x="2578608" y="4370832"/>
            <a:ext cx="713232" cy="0"/>
          </a:xfrm>
          <a:prstGeom prst="line">
            <a:avLst/>
          </a:prstGeom>
          <a:noFill/>
          <a:ln w="20320">
            <a:solidFill>
              <a:srgbClr val="E6E0D8"/>
            </a:solidFill>
            <a:prstDash val="solid"/>
            <a:tailEnd type="triangle"/>
          </a:ln>
        </p:spPr>
        <p:txBody>
          <a:bodyPr/>
          <a:lstStyle/>
          <a:p>
            <a:endParaRPr lang="en-ZA"/>
          </a:p>
        </p:txBody>
      </p:sp>
      <p:sp>
        <p:nvSpPr>
          <p:cNvPr id="23" name="Shape 21"/>
          <p:cNvSpPr/>
          <p:nvPr/>
        </p:nvSpPr>
        <p:spPr>
          <a:xfrm>
            <a:off x="3474720" y="4023360"/>
            <a:ext cx="1691640" cy="685800"/>
          </a:xfrm>
          <a:prstGeom prst="roundRect">
            <a:avLst>
              <a:gd name="adj" fmla="val 8000"/>
            </a:avLst>
          </a:prstGeom>
          <a:solidFill>
            <a:srgbClr val="E7EEF6"/>
          </a:solidFill>
          <a:ln w="13970">
            <a:solidFill>
              <a:srgbClr val="3A6EA5"/>
            </a:solidFill>
            <a:prstDash val="solid"/>
          </a:ln>
        </p:spPr>
        <p:txBody>
          <a:bodyPr/>
          <a:lstStyle/>
          <a:p>
            <a:endParaRPr lang="en-ZA"/>
          </a:p>
        </p:txBody>
      </p:sp>
      <p:sp>
        <p:nvSpPr>
          <p:cNvPr id="24" name="Text 22"/>
          <p:cNvSpPr/>
          <p:nvPr/>
        </p:nvSpPr>
        <p:spPr>
          <a:xfrm>
            <a:off x="3543300" y="4215384"/>
            <a:ext cx="1545336" cy="310896"/>
          </a:xfrm>
          <a:prstGeom prst="rect">
            <a:avLst/>
          </a:prstGeom>
          <a:noFill/>
          <a:ln/>
        </p:spPr>
        <p:txBody>
          <a:bodyPr wrap="square" lIns="0" tIns="0" rIns="0" bIns="0" rtlCol="0" anchor="ctr"/>
          <a:lstStyle/>
          <a:p>
            <a:pPr marL="0" indent="0" algn="ctr">
              <a:buNone/>
            </a:pPr>
            <a:r>
              <a:rPr lang="en-US" sz="1400" b="1" dirty="0">
                <a:solidFill>
                  <a:srgbClr val="1F2933"/>
                </a:solidFill>
                <a:latin typeface="Aptos" pitchFamily="34" charset="0"/>
                <a:ea typeface="Aptos" pitchFamily="34" charset="-122"/>
                <a:cs typeface="Aptos" pitchFamily="34" charset="-120"/>
              </a:rPr>
              <a:t>Feature</a:t>
            </a:r>
            <a:endParaRPr lang="en-US" sz="1400" dirty="0"/>
          </a:p>
          <a:p>
            <a:pPr marL="0" indent="0" algn="ctr">
              <a:buNone/>
            </a:pPr>
            <a:r>
              <a:rPr lang="en-US" sz="1400" b="1" dirty="0">
                <a:solidFill>
                  <a:srgbClr val="1F2933"/>
                </a:solidFill>
                <a:latin typeface="Aptos" pitchFamily="34" charset="0"/>
                <a:ea typeface="Aptos" pitchFamily="34" charset="-122"/>
                <a:cs typeface="Aptos" pitchFamily="34" charset="-120"/>
              </a:rPr>
              <a:t>contributions</a:t>
            </a:r>
            <a:endParaRPr lang="en-US" sz="1400" dirty="0"/>
          </a:p>
        </p:txBody>
      </p:sp>
      <p:sp>
        <p:nvSpPr>
          <p:cNvPr id="25" name="Shape 23"/>
          <p:cNvSpPr/>
          <p:nvPr/>
        </p:nvSpPr>
        <p:spPr>
          <a:xfrm>
            <a:off x="5230368" y="4370832"/>
            <a:ext cx="713232" cy="0"/>
          </a:xfrm>
          <a:prstGeom prst="line">
            <a:avLst/>
          </a:prstGeom>
          <a:noFill/>
          <a:ln w="20320">
            <a:solidFill>
              <a:srgbClr val="E6E0D8"/>
            </a:solidFill>
            <a:prstDash val="solid"/>
            <a:tailEnd type="triangle"/>
          </a:ln>
        </p:spPr>
        <p:txBody>
          <a:bodyPr/>
          <a:lstStyle/>
          <a:p>
            <a:endParaRPr lang="en-ZA"/>
          </a:p>
        </p:txBody>
      </p:sp>
      <p:sp>
        <p:nvSpPr>
          <p:cNvPr id="26" name="Shape 24"/>
          <p:cNvSpPr/>
          <p:nvPr/>
        </p:nvSpPr>
        <p:spPr>
          <a:xfrm>
            <a:off x="6080760" y="4023360"/>
            <a:ext cx="1691640" cy="685800"/>
          </a:xfrm>
          <a:prstGeom prst="roundRect">
            <a:avLst>
              <a:gd name="adj" fmla="val 8000"/>
            </a:avLst>
          </a:prstGeom>
          <a:solidFill>
            <a:srgbClr val="FFFFFF"/>
          </a:solidFill>
          <a:ln w="13970">
            <a:solidFill>
              <a:srgbClr val="E6E0D8"/>
            </a:solidFill>
            <a:prstDash val="solid"/>
          </a:ln>
        </p:spPr>
        <p:txBody>
          <a:bodyPr/>
          <a:lstStyle/>
          <a:p>
            <a:endParaRPr lang="en-ZA"/>
          </a:p>
        </p:txBody>
      </p:sp>
      <p:sp>
        <p:nvSpPr>
          <p:cNvPr id="27" name="Text 25"/>
          <p:cNvSpPr/>
          <p:nvPr/>
        </p:nvSpPr>
        <p:spPr>
          <a:xfrm>
            <a:off x="6167628" y="4160520"/>
            <a:ext cx="1545336" cy="310896"/>
          </a:xfrm>
          <a:prstGeom prst="rect">
            <a:avLst/>
          </a:prstGeom>
          <a:noFill/>
          <a:ln/>
        </p:spPr>
        <p:txBody>
          <a:bodyPr wrap="square" lIns="0" tIns="0" rIns="0" bIns="0" rtlCol="0" anchor="ctr"/>
          <a:lstStyle/>
          <a:p>
            <a:pPr marL="0" indent="0" algn="ctr">
              <a:buNone/>
            </a:pPr>
            <a:r>
              <a:rPr lang="en-US" sz="1400" b="1" dirty="0">
                <a:solidFill>
                  <a:srgbClr val="1F2933"/>
                </a:solidFill>
                <a:latin typeface="Aptos" pitchFamily="34" charset="0"/>
                <a:ea typeface="Aptos" pitchFamily="34" charset="-122"/>
                <a:cs typeface="Aptos" pitchFamily="34" charset="-120"/>
              </a:rPr>
              <a:t>Fair</a:t>
            </a:r>
            <a:endParaRPr lang="en-US" sz="1400" dirty="0"/>
          </a:p>
          <a:p>
            <a:pPr marL="0" indent="0" algn="ctr">
              <a:buNone/>
            </a:pPr>
            <a:r>
              <a:rPr lang="en-US" sz="1400" b="1" dirty="0">
                <a:solidFill>
                  <a:srgbClr val="1F2933"/>
                </a:solidFill>
                <a:latin typeface="Aptos" pitchFamily="34" charset="0"/>
                <a:ea typeface="Aptos" pitchFamily="34" charset="-122"/>
                <a:cs typeface="Aptos" pitchFamily="34" charset="-120"/>
              </a:rPr>
              <a:t>allocation</a:t>
            </a:r>
            <a:endParaRPr lang="en-US" sz="1400" dirty="0"/>
          </a:p>
        </p:txBody>
      </p:sp>
      <p:sp>
        <p:nvSpPr>
          <p:cNvPr id="28" name="Shape 26"/>
          <p:cNvSpPr/>
          <p:nvPr/>
        </p:nvSpPr>
        <p:spPr>
          <a:xfrm>
            <a:off x="7836408" y="4370832"/>
            <a:ext cx="713232" cy="0"/>
          </a:xfrm>
          <a:prstGeom prst="line">
            <a:avLst/>
          </a:prstGeom>
          <a:noFill/>
          <a:ln w="20320">
            <a:solidFill>
              <a:srgbClr val="E6E0D8"/>
            </a:solidFill>
            <a:prstDash val="solid"/>
            <a:tailEnd type="triangle"/>
          </a:ln>
        </p:spPr>
        <p:txBody>
          <a:bodyPr/>
          <a:lstStyle/>
          <a:p>
            <a:endParaRPr lang="en-ZA"/>
          </a:p>
        </p:txBody>
      </p:sp>
      <p:sp>
        <p:nvSpPr>
          <p:cNvPr id="29" name="Shape 27"/>
          <p:cNvSpPr/>
          <p:nvPr/>
        </p:nvSpPr>
        <p:spPr>
          <a:xfrm>
            <a:off x="8686800" y="4023360"/>
            <a:ext cx="1691640" cy="685800"/>
          </a:xfrm>
          <a:prstGeom prst="roundRect">
            <a:avLst>
              <a:gd name="adj" fmla="val 8000"/>
            </a:avLst>
          </a:prstGeom>
          <a:solidFill>
            <a:srgbClr val="E7EEF6"/>
          </a:solidFill>
          <a:ln w="13970">
            <a:solidFill>
              <a:srgbClr val="3A6EA5"/>
            </a:solidFill>
            <a:prstDash val="solid"/>
          </a:ln>
        </p:spPr>
        <p:txBody>
          <a:bodyPr/>
          <a:lstStyle/>
          <a:p>
            <a:endParaRPr lang="en-ZA"/>
          </a:p>
        </p:txBody>
      </p:sp>
      <p:sp>
        <p:nvSpPr>
          <p:cNvPr id="30" name="Text 28"/>
          <p:cNvSpPr/>
          <p:nvPr/>
        </p:nvSpPr>
        <p:spPr>
          <a:xfrm>
            <a:off x="8759952" y="4158996"/>
            <a:ext cx="1545336" cy="310896"/>
          </a:xfrm>
          <a:prstGeom prst="rect">
            <a:avLst/>
          </a:prstGeom>
          <a:noFill/>
          <a:ln/>
        </p:spPr>
        <p:txBody>
          <a:bodyPr wrap="square" lIns="0" tIns="0" rIns="0" bIns="0" rtlCol="0" anchor="ctr"/>
          <a:lstStyle/>
          <a:p>
            <a:pPr marL="0" indent="0" algn="ctr">
              <a:buNone/>
            </a:pPr>
            <a:r>
              <a:rPr lang="en-US" sz="1400" b="1" dirty="0">
                <a:solidFill>
                  <a:srgbClr val="1F2933"/>
                </a:solidFill>
                <a:latin typeface="Aptos" pitchFamily="34" charset="0"/>
                <a:ea typeface="Aptos" pitchFamily="34" charset="-122"/>
                <a:cs typeface="Aptos" pitchFamily="34" charset="-120"/>
              </a:rPr>
              <a:t>Final</a:t>
            </a:r>
            <a:endParaRPr lang="en-US" sz="1400" dirty="0"/>
          </a:p>
          <a:p>
            <a:pPr marL="0" indent="0" algn="ctr">
              <a:buNone/>
            </a:pPr>
            <a:r>
              <a:rPr lang="en-US" sz="1400" b="1" dirty="0">
                <a:solidFill>
                  <a:srgbClr val="1F2933"/>
                </a:solidFill>
                <a:latin typeface="Aptos" pitchFamily="34" charset="0"/>
                <a:ea typeface="Aptos" pitchFamily="34" charset="-122"/>
                <a:cs typeface="Aptos" pitchFamily="34" charset="-120"/>
              </a:rPr>
              <a:t>prediction</a:t>
            </a:r>
            <a:endParaRPr lang="en-US" sz="1400" dirty="0"/>
          </a:p>
        </p:txBody>
      </p:sp>
      <p:sp>
        <p:nvSpPr>
          <p:cNvPr id="31" name="Text 29"/>
          <p:cNvSpPr/>
          <p:nvPr/>
        </p:nvSpPr>
        <p:spPr>
          <a:xfrm>
            <a:off x="1874520" y="5212080"/>
            <a:ext cx="8321040" cy="347472"/>
          </a:xfrm>
          <a:prstGeom prst="rect">
            <a:avLst/>
          </a:prstGeom>
          <a:noFill/>
          <a:ln/>
        </p:spPr>
        <p:txBody>
          <a:bodyPr wrap="square" lIns="0" tIns="0" rIns="0" bIns="0" rtlCol="0" anchor="ctr"/>
          <a:lstStyle/>
          <a:p>
            <a:pPr marL="0" indent="0" algn="ctr">
              <a:buNone/>
            </a:pPr>
            <a:r>
              <a:rPr lang="en-US" sz="1800" b="1" dirty="0">
                <a:solidFill>
                  <a:srgbClr val="2B2A28"/>
                </a:solidFill>
                <a:latin typeface="Aptos Display" pitchFamily="34" charset="0"/>
                <a:ea typeface="Aptos Display" pitchFamily="34" charset="-122"/>
                <a:cs typeface="Aptos Display" pitchFamily="34" charset="-120"/>
              </a:rPr>
              <a:t>Interpret the model’s reasoning — not the real-world cause.</a:t>
            </a:r>
            <a:endParaRPr lang="en-US" sz="1800" dirty="0"/>
          </a:p>
        </p:txBody>
      </p:sp>
      <p:pic>
        <p:nvPicPr>
          <p:cNvPr id="32" name="Picture 31">
            <a:extLst>
              <a:ext uri="{FF2B5EF4-FFF2-40B4-BE49-F238E27FC236}">
                <a16:creationId xmlns:a16="http://schemas.microsoft.com/office/drawing/2014/main" id="{4293F8AA-038E-4D4C-B7DC-D856E5840992}"/>
              </a:ext>
            </a:extLst>
          </p:cNvPr>
          <p:cNvPicPr>
            <a:picLocks noChangeAspect="1"/>
          </p:cNvPicPr>
          <p:nvPr/>
        </p:nvPicPr>
        <p:blipFill rotWithShape="1">
          <a:blip r:embed="rId3"/>
          <a:srcRect l="20399" t="10639" r="20142" b="22780"/>
          <a:stretch/>
        </p:blipFill>
        <p:spPr>
          <a:xfrm>
            <a:off x="7104888" y="1358360"/>
            <a:ext cx="3090672" cy="19467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3A6EA5"/>
          </a:solidFill>
          <a:ln w="12700">
            <a:solidFill>
              <a:srgbClr val="3A6EA5">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Explaining predictions at a local level</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35560">
            <a:solidFill>
              <a:srgbClr val="3A6EA5"/>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b="1" dirty="0">
                <a:solidFill>
                  <a:srgbClr val="3A6EA5"/>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Shape 16"/>
          <p:cNvSpPr/>
          <p:nvPr/>
        </p:nvSpPr>
        <p:spPr>
          <a:xfrm>
            <a:off x="612648" y="1138428"/>
            <a:ext cx="5486400" cy="5074920"/>
          </a:xfrm>
          <a:prstGeom prst="roundRect">
            <a:avLst>
              <a:gd name="adj" fmla="val 901"/>
            </a:avLst>
          </a:prstGeom>
          <a:solidFill>
            <a:srgbClr val="FFFFFF"/>
          </a:solidFill>
          <a:ln w="10160">
            <a:solidFill>
              <a:srgbClr val="E6E0D8"/>
            </a:solidFill>
            <a:prstDash val="solid"/>
          </a:ln>
        </p:spPr>
        <p:txBody>
          <a:bodyPr/>
          <a:lstStyle/>
          <a:p>
            <a:endParaRPr lang="en-ZA"/>
          </a:p>
        </p:txBody>
      </p:sp>
      <p:sp>
        <p:nvSpPr>
          <p:cNvPr id="21" name="Text 18"/>
          <p:cNvSpPr/>
          <p:nvPr/>
        </p:nvSpPr>
        <p:spPr>
          <a:xfrm>
            <a:off x="6446520" y="1266445"/>
            <a:ext cx="4754880" cy="411480"/>
          </a:xfrm>
          <a:prstGeom prst="rect">
            <a:avLst/>
          </a:prstGeom>
          <a:noFill/>
          <a:ln/>
        </p:spPr>
        <p:txBody>
          <a:bodyPr wrap="square" lIns="0" tIns="0" rIns="0" bIns="0" rtlCol="0" anchor="ctr"/>
          <a:lstStyle/>
          <a:p>
            <a:pPr marL="0" indent="0">
              <a:buNone/>
            </a:pPr>
            <a:r>
              <a:rPr lang="en-US" sz="2400" b="1" dirty="0">
                <a:solidFill>
                  <a:srgbClr val="3A6EA5"/>
                </a:solidFill>
                <a:latin typeface="Aptos Display" pitchFamily="34" charset="0"/>
                <a:ea typeface="Aptos Display" pitchFamily="34" charset="-122"/>
                <a:cs typeface="Aptos Display" pitchFamily="34" charset="-120"/>
              </a:rPr>
              <a:t>From “high risk” to a stakeholder-ready explanation</a:t>
            </a:r>
            <a:endParaRPr lang="en-US" sz="2400" dirty="0"/>
          </a:p>
        </p:txBody>
      </p:sp>
      <p:sp>
        <p:nvSpPr>
          <p:cNvPr id="22" name="Text 19"/>
          <p:cNvSpPr/>
          <p:nvPr/>
        </p:nvSpPr>
        <p:spPr>
          <a:xfrm>
            <a:off x="6560820" y="2048257"/>
            <a:ext cx="4663440" cy="164592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b="1" dirty="0">
                <a:solidFill>
                  <a:srgbClr val="1F2933"/>
                </a:solidFill>
                <a:latin typeface="Aptos" pitchFamily="34" charset="0"/>
                <a:ea typeface="Aptos" pitchFamily="34" charset="-122"/>
                <a:cs typeface="Aptos" pitchFamily="34" charset="-120"/>
              </a:rPr>
              <a:t>Base value: </a:t>
            </a:r>
            <a:r>
              <a:rPr lang="en-US" sz="1600" dirty="0">
                <a:solidFill>
                  <a:srgbClr val="1F2933"/>
                </a:solidFill>
                <a:latin typeface="Aptos" pitchFamily="34" charset="0"/>
                <a:ea typeface="Aptos" pitchFamily="34" charset="-122"/>
                <a:cs typeface="Aptos" pitchFamily="34" charset="-120"/>
              </a:rPr>
              <a:t>average predicted churn probability</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Features push the prediction up or down</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This customer ends at a much higher predicted risk</a:t>
            </a:r>
            <a:endParaRPr lang="en-US" sz="1600" dirty="0"/>
          </a:p>
        </p:txBody>
      </p:sp>
      <p:sp>
        <p:nvSpPr>
          <p:cNvPr id="24" name="Text 21"/>
          <p:cNvSpPr/>
          <p:nvPr/>
        </p:nvSpPr>
        <p:spPr>
          <a:xfrm>
            <a:off x="6560820" y="3387852"/>
            <a:ext cx="4526280" cy="777240"/>
          </a:xfrm>
          <a:prstGeom prst="rect">
            <a:avLst/>
          </a:prstGeom>
          <a:noFill/>
          <a:ln/>
        </p:spPr>
        <p:txBody>
          <a:bodyPr wrap="square" lIns="254" tIns="254" rIns="254" bIns="254" rtlCol="0" anchor="ctr">
            <a:noAutofit/>
          </a:bodyPr>
          <a:lstStyle/>
          <a:p>
            <a:pPr marL="0" indent="0">
              <a:buNone/>
            </a:pPr>
            <a:r>
              <a:rPr lang="en-US" sz="1400" i="1" dirty="0">
                <a:solidFill>
                  <a:srgbClr val="1F2933"/>
                </a:solidFill>
                <a:latin typeface="Aptos" pitchFamily="34" charset="0"/>
                <a:ea typeface="Aptos" pitchFamily="34" charset="-122"/>
                <a:cs typeface="Aptos" pitchFamily="34" charset="-120"/>
              </a:rPr>
              <a:t>“The model sees high charges, month-to-month contract and shorter tenure as a high-risk pattern.”</a:t>
            </a:r>
            <a:endParaRPr lang="en-US" sz="1400" i="1" dirty="0"/>
          </a:p>
        </p:txBody>
      </p:sp>
      <p:pic>
        <p:nvPicPr>
          <p:cNvPr id="38" name="Picture 37">
            <a:extLst>
              <a:ext uri="{FF2B5EF4-FFF2-40B4-BE49-F238E27FC236}">
                <a16:creationId xmlns:a16="http://schemas.microsoft.com/office/drawing/2014/main" id="{6EAABBFB-2F98-43F7-91EA-62AA5D72A2A8}"/>
              </a:ext>
            </a:extLst>
          </p:cNvPr>
          <p:cNvPicPr>
            <a:picLocks noChangeAspect="1"/>
          </p:cNvPicPr>
          <p:nvPr/>
        </p:nvPicPr>
        <p:blipFill>
          <a:blip r:embed="rId3"/>
          <a:stretch>
            <a:fillRect/>
          </a:stretch>
        </p:blipFill>
        <p:spPr>
          <a:xfrm>
            <a:off x="1439764" y="1547618"/>
            <a:ext cx="3923607" cy="42931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3A6EA5"/>
          </a:solidFill>
          <a:ln w="12700">
            <a:solidFill>
              <a:srgbClr val="3A6EA5">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Explaining predictions at a global level</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35560">
            <a:solidFill>
              <a:srgbClr val="3A6EA5"/>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b="1" dirty="0">
                <a:solidFill>
                  <a:srgbClr val="3A6EA5"/>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Shape 16"/>
          <p:cNvSpPr/>
          <p:nvPr/>
        </p:nvSpPr>
        <p:spPr>
          <a:xfrm>
            <a:off x="658368" y="1143000"/>
            <a:ext cx="5486400" cy="5074920"/>
          </a:xfrm>
          <a:prstGeom prst="roundRect">
            <a:avLst>
              <a:gd name="adj" fmla="val 901"/>
            </a:avLst>
          </a:prstGeom>
          <a:solidFill>
            <a:srgbClr val="FFFFFF"/>
          </a:solidFill>
          <a:ln w="10160">
            <a:solidFill>
              <a:srgbClr val="E6E0D8"/>
            </a:solidFill>
            <a:prstDash val="solid"/>
          </a:ln>
        </p:spPr>
        <p:txBody>
          <a:bodyPr/>
          <a:lstStyle/>
          <a:p>
            <a:endParaRPr lang="en-ZA"/>
          </a:p>
        </p:txBody>
      </p:sp>
      <p:sp>
        <p:nvSpPr>
          <p:cNvPr id="21" name="Text 18"/>
          <p:cNvSpPr/>
          <p:nvPr/>
        </p:nvSpPr>
        <p:spPr>
          <a:xfrm>
            <a:off x="6446520" y="1266445"/>
            <a:ext cx="4754880" cy="411480"/>
          </a:xfrm>
          <a:prstGeom prst="rect">
            <a:avLst/>
          </a:prstGeom>
          <a:noFill/>
          <a:ln/>
        </p:spPr>
        <p:txBody>
          <a:bodyPr wrap="square" lIns="0" tIns="0" rIns="0" bIns="0" rtlCol="0" anchor="ctr"/>
          <a:lstStyle/>
          <a:p>
            <a:pPr marL="0" indent="0">
              <a:buNone/>
            </a:pPr>
            <a:r>
              <a:rPr lang="en-US" sz="2400" b="1" dirty="0">
                <a:solidFill>
                  <a:srgbClr val="3A6EA5"/>
                </a:solidFill>
                <a:latin typeface="Aptos Display" pitchFamily="34" charset="0"/>
                <a:ea typeface="Aptos Display" pitchFamily="34" charset="-122"/>
                <a:cs typeface="Aptos Display" pitchFamily="34" charset="-120"/>
              </a:rPr>
              <a:t>What the model relies on across the dataset</a:t>
            </a:r>
            <a:endParaRPr lang="en-US" sz="2400" dirty="0"/>
          </a:p>
        </p:txBody>
      </p:sp>
      <p:sp>
        <p:nvSpPr>
          <p:cNvPr id="22" name="Text 19"/>
          <p:cNvSpPr/>
          <p:nvPr/>
        </p:nvSpPr>
        <p:spPr>
          <a:xfrm>
            <a:off x="6560820" y="2048257"/>
            <a:ext cx="4663440" cy="164592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Each dot is a customer</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Position shows whether the feature increased or reduced churn risk</a:t>
            </a:r>
            <a:endParaRPr lang="en-US" sz="1600" dirty="0"/>
          </a:p>
          <a:p>
            <a:pPr marL="285750" indent="-285750">
              <a:buFont typeface="Arial" panose="020B0604020202020204" pitchFamily="34" charset="0"/>
              <a:buChar char="•"/>
            </a:pPr>
            <a:r>
              <a:rPr lang="en-US" sz="1600" dirty="0" err="1">
                <a:solidFill>
                  <a:srgbClr val="1F2933"/>
                </a:solidFill>
                <a:latin typeface="Aptos" pitchFamily="34" charset="0"/>
                <a:ea typeface="Aptos" pitchFamily="34" charset="-122"/>
                <a:cs typeface="Aptos" pitchFamily="34" charset="-120"/>
              </a:rPr>
              <a:t>Colour</a:t>
            </a:r>
            <a:r>
              <a:rPr lang="en-US" sz="1600" dirty="0">
                <a:solidFill>
                  <a:srgbClr val="1F2933"/>
                </a:solidFill>
                <a:latin typeface="Aptos" pitchFamily="34" charset="0"/>
                <a:ea typeface="Aptos" pitchFamily="34" charset="-122"/>
                <a:cs typeface="Aptos" pitchFamily="34" charset="-120"/>
              </a:rPr>
              <a:t> shows whether the feature value is high or low</a:t>
            </a:r>
            <a:endParaRPr lang="en-US" sz="1600" dirty="0"/>
          </a:p>
        </p:txBody>
      </p:sp>
      <p:sp>
        <p:nvSpPr>
          <p:cNvPr id="24" name="Text 21"/>
          <p:cNvSpPr/>
          <p:nvPr/>
        </p:nvSpPr>
        <p:spPr>
          <a:xfrm>
            <a:off x="6560820" y="3387852"/>
            <a:ext cx="4526280" cy="777240"/>
          </a:xfrm>
          <a:prstGeom prst="rect">
            <a:avLst/>
          </a:prstGeom>
          <a:noFill/>
          <a:ln/>
        </p:spPr>
        <p:txBody>
          <a:bodyPr wrap="square" lIns="254" tIns="254" rIns="254" bIns="254" rtlCol="0" anchor="ctr">
            <a:noAutofit/>
          </a:bodyPr>
          <a:lstStyle/>
          <a:p>
            <a:pPr marL="0" indent="0">
              <a:buNone/>
            </a:pPr>
            <a:r>
              <a:rPr lang="en-US" sz="1400" i="1" dirty="0">
                <a:solidFill>
                  <a:srgbClr val="1F2933"/>
                </a:solidFill>
                <a:latin typeface="Aptos" pitchFamily="34" charset="0"/>
                <a:ea typeface="Aptos" pitchFamily="34" charset="-122"/>
                <a:cs typeface="Aptos" pitchFamily="34" charset="-120"/>
              </a:rPr>
              <a:t>Influential predictors here include contract type, tenure and fiber optic service — but this is still predictive, not causal.</a:t>
            </a:r>
            <a:endParaRPr lang="en-US" sz="1400" i="1" dirty="0"/>
          </a:p>
        </p:txBody>
      </p:sp>
      <p:pic>
        <p:nvPicPr>
          <p:cNvPr id="33" name="Picture 32">
            <a:extLst>
              <a:ext uri="{FF2B5EF4-FFF2-40B4-BE49-F238E27FC236}">
                <a16:creationId xmlns:a16="http://schemas.microsoft.com/office/drawing/2014/main" id="{83613D9F-C3D7-4D32-A856-C0E8A2DCF8C3}"/>
              </a:ext>
            </a:extLst>
          </p:cNvPr>
          <p:cNvPicPr>
            <a:picLocks noChangeAspect="1"/>
          </p:cNvPicPr>
          <p:nvPr/>
        </p:nvPicPr>
        <p:blipFill>
          <a:blip r:embed="rId3"/>
          <a:stretch>
            <a:fillRect/>
          </a:stretch>
        </p:blipFill>
        <p:spPr>
          <a:xfrm>
            <a:off x="1166628" y="1594104"/>
            <a:ext cx="4469880" cy="4163568"/>
          </a:xfrm>
          <a:prstGeom prst="rect">
            <a:avLst/>
          </a:prstGeom>
        </p:spPr>
      </p:pic>
    </p:spTree>
    <p:extLst>
      <p:ext uri="{BB962C8B-B14F-4D97-AF65-F5344CB8AC3E}">
        <p14:creationId xmlns:p14="http://schemas.microsoft.com/office/powerpoint/2010/main" val="2676901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3A6EA5"/>
          </a:solidFill>
          <a:ln w="12700">
            <a:solidFill>
              <a:srgbClr val="3A6EA5">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Evaluating SHAP values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35560">
            <a:solidFill>
              <a:srgbClr val="3A6EA5"/>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b="1" dirty="0">
                <a:solidFill>
                  <a:srgbClr val="3A6EA5"/>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353312"/>
            <a:ext cx="3520440" cy="320040"/>
          </a:xfrm>
          <a:prstGeom prst="rect">
            <a:avLst/>
          </a:prstGeom>
          <a:noFill/>
          <a:ln/>
        </p:spPr>
        <p:txBody>
          <a:bodyPr wrap="square" lIns="0" tIns="0" rIns="0" bIns="0" rtlCol="0" anchor="ctr"/>
          <a:lstStyle/>
          <a:p>
            <a:pPr marL="0" indent="0">
              <a:buNone/>
            </a:pPr>
            <a:r>
              <a:rPr lang="en-US" sz="1550" b="1" dirty="0">
                <a:solidFill>
                  <a:srgbClr val="3A6EA5"/>
                </a:solidFill>
                <a:latin typeface="Aptos Display" pitchFamily="34" charset="0"/>
                <a:ea typeface="Aptos Display" pitchFamily="34" charset="-122"/>
                <a:cs typeface="Aptos Display" pitchFamily="34" charset="-120"/>
              </a:rPr>
              <a:t>Strengths</a:t>
            </a:r>
            <a:endParaRPr lang="en-US" sz="1550" dirty="0"/>
          </a:p>
        </p:txBody>
      </p:sp>
      <p:sp>
        <p:nvSpPr>
          <p:cNvPr id="19" name="Shape 17"/>
          <p:cNvSpPr/>
          <p:nvPr/>
        </p:nvSpPr>
        <p:spPr>
          <a:xfrm>
            <a:off x="685800" y="1746504"/>
            <a:ext cx="3246120" cy="0"/>
          </a:xfrm>
          <a:prstGeom prst="line">
            <a:avLst/>
          </a:prstGeom>
          <a:noFill/>
          <a:ln w="25400">
            <a:solidFill>
              <a:srgbClr val="3A6EA5"/>
            </a:solidFill>
            <a:prstDash val="solid"/>
          </a:ln>
        </p:spPr>
        <p:txBody>
          <a:bodyPr/>
          <a:lstStyle/>
          <a:p>
            <a:endParaRPr lang="en-ZA"/>
          </a:p>
        </p:txBody>
      </p:sp>
      <p:sp>
        <p:nvSpPr>
          <p:cNvPr id="20" name="Text 18"/>
          <p:cNvSpPr/>
          <p:nvPr/>
        </p:nvSpPr>
        <p:spPr>
          <a:xfrm>
            <a:off x="70408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Local and global explanation</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Works with complex predictive models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Turns black-box predictions into business conversations</a:t>
            </a:r>
            <a:endParaRPr lang="en-US" sz="1600" dirty="0"/>
          </a:p>
        </p:txBody>
      </p:sp>
      <p:sp>
        <p:nvSpPr>
          <p:cNvPr id="21" name="Text 19"/>
          <p:cNvSpPr/>
          <p:nvPr/>
        </p:nvSpPr>
        <p:spPr>
          <a:xfrm>
            <a:off x="4434840" y="1353312"/>
            <a:ext cx="3520440" cy="320040"/>
          </a:xfrm>
          <a:prstGeom prst="rect">
            <a:avLst/>
          </a:prstGeom>
          <a:noFill/>
          <a:ln/>
        </p:spPr>
        <p:txBody>
          <a:bodyPr wrap="square" lIns="0" tIns="0" rIns="0" bIns="0" rtlCol="0" anchor="ctr"/>
          <a:lstStyle/>
          <a:p>
            <a:pPr marL="0" indent="0">
              <a:buNone/>
            </a:pPr>
            <a:r>
              <a:rPr lang="en-US" sz="1550" b="1" dirty="0">
                <a:solidFill>
                  <a:srgbClr val="8F3A2F"/>
                </a:solidFill>
                <a:latin typeface="Aptos Display" pitchFamily="34" charset="0"/>
                <a:ea typeface="Aptos Display" pitchFamily="34" charset="-122"/>
                <a:cs typeface="Aptos Display" pitchFamily="34" charset="-120"/>
              </a:rPr>
              <a:t>Weaknesses / limitations</a:t>
            </a:r>
            <a:endParaRPr lang="en-US" sz="1550" dirty="0"/>
          </a:p>
        </p:txBody>
      </p:sp>
      <p:sp>
        <p:nvSpPr>
          <p:cNvPr id="22" name="Shape 20"/>
          <p:cNvSpPr/>
          <p:nvPr/>
        </p:nvSpPr>
        <p:spPr>
          <a:xfrm>
            <a:off x="4434840" y="1746504"/>
            <a:ext cx="3246120" cy="0"/>
          </a:xfrm>
          <a:prstGeom prst="line">
            <a:avLst/>
          </a:prstGeom>
          <a:noFill/>
          <a:ln w="25400">
            <a:solidFill>
              <a:srgbClr val="8F3A2F"/>
            </a:solidFill>
            <a:prstDash val="solid"/>
          </a:ln>
        </p:spPr>
        <p:txBody>
          <a:bodyPr/>
          <a:lstStyle/>
          <a:p>
            <a:endParaRPr lang="en-ZA"/>
          </a:p>
        </p:txBody>
      </p:sp>
      <p:sp>
        <p:nvSpPr>
          <p:cNvPr id="23" name="Text 21"/>
          <p:cNvSpPr/>
          <p:nvPr/>
        </p:nvSpPr>
        <p:spPr>
          <a:xfrm>
            <a:off x="445312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Not causal: explains the model, not the world</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Depends on the quality of the model</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Correlated features can distort importance</a:t>
            </a:r>
            <a:endParaRPr lang="en-US" sz="1600" dirty="0"/>
          </a:p>
        </p:txBody>
      </p:sp>
      <p:sp>
        <p:nvSpPr>
          <p:cNvPr id="24" name="Text 22"/>
          <p:cNvSpPr/>
          <p:nvPr/>
        </p:nvSpPr>
        <p:spPr>
          <a:xfrm>
            <a:off x="8183880" y="1353312"/>
            <a:ext cx="3520440" cy="320040"/>
          </a:xfrm>
          <a:prstGeom prst="rect">
            <a:avLst/>
          </a:prstGeom>
          <a:noFill/>
          <a:ln/>
        </p:spPr>
        <p:txBody>
          <a:bodyPr wrap="square" lIns="0" tIns="0" rIns="0" bIns="0" rtlCol="0" anchor="ctr"/>
          <a:lstStyle/>
          <a:p>
            <a:pPr marL="0" indent="0">
              <a:buNone/>
            </a:pPr>
            <a:r>
              <a:rPr lang="en-US" sz="1550" b="1" dirty="0">
                <a:solidFill>
                  <a:srgbClr val="5A5A5A"/>
                </a:solidFill>
                <a:latin typeface="Aptos Display" pitchFamily="34" charset="0"/>
                <a:ea typeface="Aptos Display" pitchFamily="34" charset="-122"/>
                <a:cs typeface="Aptos Display" pitchFamily="34" charset="-120"/>
              </a:rPr>
              <a:t>Assumptions</a:t>
            </a:r>
            <a:endParaRPr lang="en-US" sz="1550" dirty="0"/>
          </a:p>
        </p:txBody>
      </p:sp>
      <p:sp>
        <p:nvSpPr>
          <p:cNvPr id="25" name="Shape 23"/>
          <p:cNvSpPr/>
          <p:nvPr/>
        </p:nvSpPr>
        <p:spPr>
          <a:xfrm>
            <a:off x="8183880" y="1746504"/>
            <a:ext cx="3246120" cy="0"/>
          </a:xfrm>
          <a:prstGeom prst="line">
            <a:avLst/>
          </a:prstGeom>
          <a:noFill/>
          <a:ln w="25400">
            <a:solidFill>
              <a:srgbClr val="5A5A5A"/>
            </a:solidFill>
            <a:prstDash val="solid"/>
          </a:ln>
        </p:spPr>
        <p:txBody>
          <a:bodyPr/>
          <a:lstStyle/>
          <a:p>
            <a:endParaRPr lang="en-ZA"/>
          </a:p>
        </p:txBody>
      </p:sp>
      <p:sp>
        <p:nvSpPr>
          <p:cNvPr id="26" name="Text 24"/>
          <p:cNvSpPr/>
          <p:nvPr/>
        </p:nvSpPr>
        <p:spPr>
          <a:xfrm>
            <a:off x="820216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Model is worth explaining</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Features are meaningful and consistently measured</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Background sample is a reasonable reference group</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5D4157"/>
          </a:solidFill>
          <a:ln w="12700">
            <a:solidFill>
              <a:srgbClr val="5D4157">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Logistic regression for controlled attribution</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35560">
            <a:solidFill>
              <a:srgbClr val="5D4157"/>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b="1" dirty="0">
                <a:solidFill>
                  <a:srgbClr val="5D4157"/>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170432"/>
            <a:ext cx="10515600" cy="493776"/>
          </a:xfrm>
          <a:prstGeom prst="rect">
            <a:avLst/>
          </a:prstGeom>
          <a:noFill/>
          <a:ln/>
        </p:spPr>
        <p:txBody>
          <a:bodyPr wrap="square" lIns="0" tIns="0" rIns="0" bIns="0" rtlCol="0" anchor="ctr"/>
          <a:lstStyle/>
          <a:p>
            <a:pPr marL="0" indent="0">
              <a:buNone/>
            </a:pPr>
            <a:r>
              <a:rPr lang="en-US" sz="2400" b="1" dirty="0">
                <a:solidFill>
                  <a:srgbClr val="5D4157"/>
                </a:solidFill>
                <a:latin typeface="Aptos Display" pitchFamily="34" charset="0"/>
                <a:ea typeface="Aptos Display" pitchFamily="34" charset="-122"/>
                <a:cs typeface="Aptos Display" pitchFamily="34" charset="-120"/>
              </a:rPr>
              <a:t>Which factors are associated with churn, after accounting for other variables?</a:t>
            </a:r>
            <a:endParaRPr lang="en-US" sz="2400" dirty="0"/>
          </a:p>
        </p:txBody>
      </p:sp>
      <p:sp>
        <p:nvSpPr>
          <p:cNvPr id="19" name="Text 17"/>
          <p:cNvSpPr/>
          <p:nvPr/>
        </p:nvSpPr>
        <p:spPr>
          <a:xfrm>
            <a:off x="868680" y="2057400"/>
            <a:ext cx="5105400" cy="192024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Churn is a yes/no outcome, so logistic regression is appropriate</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Each coefficient estimates an association with the odds of churn</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The model “holds constant” the other variables included in the model</a:t>
            </a:r>
            <a:endParaRPr lang="en-US" sz="1600" dirty="0"/>
          </a:p>
        </p:txBody>
      </p:sp>
      <p:sp>
        <p:nvSpPr>
          <p:cNvPr id="20" name="Shape 18"/>
          <p:cNvSpPr/>
          <p:nvPr/>
        </p:nvSpPr>
        <p:spPr>
          <a:xfrm>
            <a:off x="6629400" y="1920240"/>
            <a:ext cx="4480560" cy="1508760"/>
          </a:xfrm>
          <a:prstGeom prst="roundRect">
            <a:avLst>
              <a:gd name="adj" fmla="val 4242"/>
            </a:avLst>
          </a:prstGeom>
          <a:solidFill>
            <a:srgbClr val="EEE8EE"/>
          </a:solidFill>
          <a:ln w="12700">
            <a:solidFill>
              <a:srgbClr val="5D4157"/>
            </a:solidFill>
            <a:prstDash val="solid"/>
          </a:ln>
        </p:spPr>
        <p:txBody>
          <a:bodyPr anchor="ctr"/>
          <a:lstStyle/>
          <a:p>
            <a:pPr marL="0" indent="0" algn="ctr">
              <a:buNone/>
            </a:pPr>
            <a:r>
              <a:rPr lang="en-US" sz="1800" b="1" dirty="0">
                <a:solidFill>
                  <a:srgbClr val="2B2A28"/>
                </a:solidFill>
                <a:latin typeface="Aptos Display" pitchFamily="34" charset="0"/>
                <a:ea typeface="Aptos Display" pitchFamily="34" charset="-122"/>
                <a:cs typeface="Aptos Display" pitchFamily="34" charset="-120"/>
              </a:rPr>
              <a:t>Prediction asks: “Who?”</a:t>
            </a:r>
            <a:endParaRPr lang="en-US" sz="1800" dirty="0"/>
          </a:p>
          <a:p>
            <a:pPr marL="0" indent="0" algn="ctr">
              <a:buNone/>
            </a:pPr>
            <a:r>
              <a:rPr lang="en-US" sz="1800" b="1" dirty="0">
                <a:solidFill>
                  <a:srgbClr val="2B2A28"/>
                </a:solidFill>
                <a:latin typeface="Aptos Display" pitchFamily="34" charset="0"/>
                <a:ea typeface="Aptos Display" pitchFamily="34" charset="-122"/>
                <a:cs typeface="Aptos Display" pitchFamily="34" charset="-120"/>
              </a:rPr>
              <a:t>Attribution asks: “Which factors remain related after controls?”</a:t>
            </a:r>
            <a:endParaRPr lang="en-US" sz="1800" dirty="0"/>
          </a:p>
        </p:txBody>
      </p:sp>
      <p:sp>
        <p:nvSpPr>
          <p:cNvPr id="21" name="Text 19"/>
          <p:cNvSpPr/>
          <p:nvPr/>
        </p:nvSpPr>
        <p:spPr>
          <a:xfrm>
            <a:off x="6903720" y="2286001"/>
            <a:ext cx="3931920" cy="731520"/>
          </a:xfrm>
          <a:prstGeom prst="rect">
            <a:avLst/>
          </a:prstGeom>
          <a:noFill/>
          <a:ln/>
        </p:spPr>
        <p:txBody>
          <a:bodyPr wrap="square" lIns="0" tIns="0" rIns="0" bIns="0" rtlCol="0" anchor="t">
            <a:normAutofit/>
          </a:bodyPr>
          <a:lstStyle/>
          <a:p>
            <a:pPr marL="0" indent="0" algn="ctr">
              <a:buNone/>
            </a:pPr>
            <a:endParaRPr lang="en-US" sz="1800" dirty="0"/>
          </a:p>
        </p:txBody>
      </p:sp>
      <p:sp>
        <p:nvSpPr>
          <p:cNvPr id="23" name="Text 21"/>
          <p:cNvSpPr/>
          <p:nvPr/>
        </p:nvSpPr>
        <p:spPr>
          <a:xfrm>
            <a:off x="2834639" y="4727446"/>
            <a:ext cx="5577840" cy="384048"/>
          </a:xfrm>
          <a:prstGeom prst="rect">
            <a:avLst/>
          </a:prstGeom>
          <a:noFill/>
          <a:ln/>
        </p:spPr>
        <p:txBody>
          <a:bodyPr wrap="square" lIns="254" tIns="254" rIns="254" bIns="254" rtlCol="0" anchor="ctr">
            <a:normAutofit fontScale="85000" lnSpcReduction="10000"/>
          </a:bodyPr>
          <a:lstStyle/>
          <a:p>
            <a:pPr marL="0" indent="0">
              <a:buNone/>
            </a:pPr>
            <a:r>
              <a:rPr lang="en-US" b="1" dirty="0">
                <a:solidFill>
                  <a:srgbClr val="1F2933"/>
                </a:solidFill>
                <a:latin typeface="Aptos" pitchFamily="34" charset="0"/>
                <a:ea typeface="Aptos" pitchFamily="34" charset="-122"/>
                <a:cs typeface="Aptos" pitchFamily="34" charset="-120"/>
              </a:rPr>
              <a:t>The language changes from “causes” to “associated with”.</a:t>
            </a:r>
            <a:endParaRPr lang="en-US" b="1" dirty="0"/>
          </a:p>
        </p:txBody>
      </p:sp>
      <p:sp>
        <p:nvSpPr>
          <p:cNvPr id="24" name="Shape 12">
            <a:extLst>
              <a:ext uri="{FF2B5EF4-FFF2-40B4-BE49-F238E27FC236}">
                <a16:creationId xmlns:a16="http://schemas.microsoft.com/office/drawing/2014/main" id="{4CC5EB70-3672-4244-877D-F32341D656F7}"/>
              </a:ext>
            </a:extLst>
          </p:cNvPr>
          <p:cNvSpPr/>
          <p:nvPr/>
        </p:nvSpPr>
        <p:spPr>
          <a:xfrm flipV="1">
            <a:off x="1487254" y="4224529"/>
            <a:ext cx="7998291" cy="1"/>
          </a:xfrm>
          <a:prstGeom prst="line">
            <a:avLst/>
          </a:prstGeom>
          <a:noFill/>
          <a:ln w="7620">
            <a:solidFill>
              <a:srgbClr val="E6E0D8"/>
            </a:solidFill>
            <a:prstDash val="solid"/>
          </a:ln>
        </p:spPr>
        <p:txBody>
          <a:bodyPr/>
          <a:lstStyle/>
          <a:p>
            <a:endParaRPr lang="en-ZA"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5D4157"/>
          </a:solidFill>
          <a:ln w="12700">
            <a:solidFill>
              <a:srgbClr val="5D4157">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From logistic regression to GAMs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35560">
            <a:solidFill>
              <a:srgbClr val="5D4157"/>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b="1" dirty="0">
                <a:solidFill>
                  <a:srgbClr val="5D4157"/>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Shape 16"/>
          <p:cNvSpPr/>
          <p:nvPr/>
        </p:nvSpPr>
        <p:spPr>
          <a:xfrm>
            <a:off x="658368" y="1298448"/>
            <a:ext cx="5257800" cy="4160520"/>
          </a:xfrm>
          <a:prstGeom prst="roundRect">
            <a:avLst>
              <a:gd name="adj" fmla="val 1099"/>
            </a:avLst>
          </a:prstGeom>
          <a:solidFill>
            <a:srgbClr val="FFFFFF"/>
          </a:solidFill>
          <a:ln w="10160">
            <a:solidFill>
              <a:srgbClr val="E6E0D8"/>
            </a:solidFill>
            <a:prstDash val="solid"/>
          </a:ln>
        </p:spPr>
        <p:txBody>
          <a:bodyPr/>
          <a:lstStyle/>
          <a:p>
            <a:endParaRPr lang="en-ZA"/>
          </a:p>
        </p:txBody>
      </p:sp>
      <p:pic>
        <p:nvPicPr>
          <p:cNvPr id="20" name="Image 0"/>
          <p:cNvPicPr>
            <a:picLocks noChangeAspect="1"/>
          </p:cNvPicPr>
          <p:nvPr/>
        </p:nvPicPr>
        <p:blipFill>
          <a:blip r:embed="rId3"/>
          <a:srcRect/>
          <a:stretch/>
        </p:blipFill>
        <p:spPr>
          <a:xfrm>
            <a:off x="786384" y="1978359"/>
            <a:ext cx="5001768" cy="2800697"/>
          </a:xfrm>
          <a:prstGeom prst="rect">
            <a:avLst/>
          </a:prstGeom>
        </p:spPr>
      </p:pic>
      <p:sp>
        <p:nvSpPr>
          <p:cNvPr id="21" name="Shape 18"/>
          <p:cNvSpPr/>
          <p:nvPr/>
        </p:nvSpPr>
        <p:spPr>
          <a:xfrm>
            <a:off x="6245352" y="1297059"/>
            <a:ext cx="5257800" cy="4160520"/>
          </a:xfrm>
          <a:prstGeom prst="roundRect">
            <a:avLst>
              <a:gd name="adj" fmla="val 1099"/>
            </a:avLst>
          </a:prstGeom>
          <a:solidFill>
            <a:srgbClr val="FFFFFF"/>
          </a:solidFill>
          <a:ln w="10160">
            <a:solidFill>
              <a:srgbClr val="E6E0D8"/>
            </a:solidFill>
            <a:prstDash val="solid"/>
          </a:ln>
        </p:spPr>
        <p:txBody>
          <a:bodyPr/>
          <a:lstStyle/>
          <a:p>
            <a:endParaRPr lang="en-ZA"/>
          </a:p>
        </p:txBody>
      </p:sp>
      <p:pic>
        <p:nvPicPr>
          <p:cNvPr id="23" name="Image 1"/>
          <p:cNvPicPr>
            <a:picLocks noChangeAspect="1"/>
          </p:cNvPicPr>
          <p:nvPr/>
        </p:nvPicPr>
        <p:blipFill>
          <a:blip r:embed="rId4"/>
          <a:srcRect/>
          <a:stretch/>
        </p:blipFill>
        <p:spPr>
          <a:xfrm>
            <a:off x="6373368" y="1977852"/>
            <a:ext cx="5001768" cy="2800697"/>
          </a:xfrm>
          <a:prstGeom prst="rect">
            <a:avLst/>
          </a:prstGeom>
        </p:spPr>
      </p:pic>
      <p:sp>
        <p:nvSpPr>
          <p:cNvPr id="24" name="Text 20"/>
          <p:cNvSpPr/>
          <p:nvPr/>
        </p:nvSpPr>
        <p:spPr>
          <a:xfrm>
            <a:off x="2286000" y="5715000"/>
            <a:ext cx="7772400" cy="329184"/>
          </a:xfrm>
          <a:prstGeom prst="rect">
            <a:avLst/>
          </a:prstGeom>
          <a:noFill/>
          <a:ln/>
        </p:spPr>
        <p:txBody>
          <a:bodyPr wrap="square" lIns="0" tIns="0" rIns="0" bIns="0" rtlCol="0" anchor="ctr"/>
          <a:lstStyle/>
          <a:p>
            <a:pPr marL="0" indent="0" algn="ctr">
              <a:buNone/>
            </a:pPr>
            <a:r>
              <a:rPr lang="en-US" sz="1750" b="1" dirty="0">
                <a:solidFill>
                  <a:srgbClr val="5D4157"/>
                </a:solidFill>
                <a:latin typeface="Aptos Display" pitchFamily="34" charset="0"/>
                <a:ea typeface="Aptos Display" pitchFamily="34" charset="-122"/>
                <a:cs typeface="Aptos Display" pitchFamily="34" charset="-120"/>
              </a:rPr>
              <a:t>Same question, more flexible shape</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5D4157"/>
          </a:solidFill>
          <a:ln w="12700">
            <a:solidFill>
              <a:srgbClr val="5D4157">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GAMMs for nonlinear and grouped attribution</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35560">
            <a:solidFill>
              <a:srgbClr val="5D4157"/>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b="1" dirty="0">
                <a:solidFill>
                  <a:srgbClr val="5D4157"/>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Shape 16"/>
          <p:cNvSpPr/>
          <p:nvPr/>
        </p:nvSpPr>
        <p:spPr>
          <a:xfrm>
            <a:off x="658368" y="1298448"/>
            <a:ext cx="5257800" cy="4160520"/>
          </a:xfrm>
          <a:prstGeom prst="roundRect">
            <a:avLst>
              <a:gd name="adj" fmla="val 1099"/>
            </a:avLst>
          </a:prstGeom>
          <a:solidFill>
            <a:srgbClr val="FFFFFF"/>
          </a:solidFill>
          <a:ln w="10160">
            <a:solidFill>
              <a:srgbClr val="E6E0D8"/>
            </a:solidFill>
            <a:prstDash val="solid"/>
          </a:ln>
        </p:spPr>
        <p:txBody>
          <a:bodyPr/>
          <a:lstStyle/>
          <a:p>
            <a:endParaRPr lang="en-ZA"/>
          </a:p>
        </p:txBody>
      </p:sp>
      <p:sp>
        <p:nvSpPr>
          <p:cNvPr id="19" name="Text 17"/>
          <p:cNvSpPr/>
          <p:nvPr/>
        </p:nvSpPr>
        <p:spPr>
          <a:xfrm>
            <a:off x="804672" y="1417320"/>
            <a:ext cx="4965192" cy="182880"/>
          </a:xfrm>
          <a:prstGeom prst="rect">
            <a:avLst/>
          </a:prstGeom>
          <a:noFill/>
          <a:ln/>
        </p:spPr>
        <p:txBody>
          <a:bodyPr wrap="square" lIns="0" tIns="0" rIns="0" bIns="0" rtlCol="0" anchor="ctr"/>
          <a:lstStyle/>
          <a:p>
            <a:pPr marL="0" indent="0">
              <a:buNone/>
            </a:pPr>
            <a:endParaRPr lang="en-US" sz="1000" dirty="0"/>
          </a:p>
        </p:txBody>
      </p:sp>
      <p:sp>
        <p:nvSpPr>
          <p:cNvPr id="21" name="Shape 18"/>
          <p:cNvSpPr/>
          <p:nvPr/>
        </p:nvSpPr>
        <p:spPr>
          <a:xfrm>
            <a:off x="6245352" y="1298448"/>
            <a:ext cx="5257800" cy="4160520"/>
          </a:xfrm>
          <a:prstGeom prst="roundRect">
            <a:avLst>
              <a:gd name="adj" fmla="val 1099"/>
            </a:avLst>
          </a:prstGeom>
          <a:solidFill>
            <a:srgbClr val="FFFFFF"/>
          </a:solidFill>
          <a:ln w="10160">
            <a:solidFill>
              <a:srgbClr val="E6E0D8"/>
            </a:solidFill>
            <a:prstDash val="solid"/>
          </a:ln>
        </p:spPr>
        <p:txBody>
          <a:bodyPr/>
          <a:lstStyle/>
          <a:p>
            <a:endParaRPr lang="en-ZA"/>
          </a:p>
        </p:txBody>
      </p:sp>
      <p:sp>
        <p:nvSpPr>
          <p:cNvPr id="22" name="Text 19"/>
          <p:cNvSpPr/>
          <p:nvPr/>
        </p:nvSpPr>
        <p:spPr>
          <a:xfrm>
            <a:off x="6391656" y="1417320"/>
            <a:ext cx="4965192" cy="182880"/>
          </a:xfrm>
          <a:prstGeom prst="rect">
            <a:avLst/>
          </a:prstGeom>
          <a:noFill/>
          <a:ln/>
        </p:spPr>
        <p:txBody>
          <a:bodyPr wrap="square" lIns="0" tIns="0" rIns="0" bIns="0" rtlCol="0" anchor="ctr"/>
          <a:lstStyle/>
          <a:p>
            <a:endParaRPr lang="en-US" sz="1000" dirty="0"/>
          </a:p>
        </p:txBody>
      </p:sp>
      <p:sp>
        <p:nvSpPr>
          <p:cNvPr id="24" name="Text 20"/>
          <p:cNvSpPr/>
          <p:nvPr/>
        </p:nvSpPr>
        <p:spPr>
          <a:xfrm>
            <a:off x="2286000" y="5715000"/>
            <a:ext cx="7772400" cy="329184"/>
          </a:xfrm>
          <a:prstGeom prst="rect">
            <a:avLst/>
          </a:prstGeom>
          <a:noFill/>
          <a:ln/>
        </p:spPr>
        <p:txBody>
          <a:bodyPr wrap="square" lIns="0" tIns="0" rIns="0" bIns="0" rtlCol="0" anchor="ctr"/>
          <a:lstStyle/>
          <a:p>
            <a:pPr algn="ctr"/>
            <a:r>
              <a:rPr lang="en-US" sz="1750" b="1" dirty="0">
                <a:solidFill>
                  <a:srgbClr val="5D4157"/>
                </a:solidFill>
                <a:latin typeface="Aptos Display" pitchFamily="34" charset="0"/>
                <a:ea typeface="Aptos Display" pitchFamily="34" charset="-122"/>
                <a:cs typeface="Aptos Display" pitchFamily="34" charset="-120"/>
              </a:rPr>
              <a:t>GAMM = flexible smooths + grouped data structure</a:t>
            </a:r>
            <a:endParaRPr lang="en-US" sz="1750" dirty="0"/>
          </a:p>
        </p:txBody>
      </p:sp>
      <p:pic>
        <p:nvPicPr>
          <p:cNvPr id="29" name="Picture 28">
            <a:extLst>
              <a:ext uri="{FF2B5EF4-FFF2-40B4-BE49-F238E27FC236}">
                <a16:creationId xmlns:a16="http://schemas.microsoft.com/office/drawing/2014/main" id="{078E4B04-70F7-4349-875C-0CF2E56D7DAF}"/>
              </a:ext>
            </a:extLst>
          </p:cNvPr>
          <p:cNvPicPr>
            <a:picLocks noChangeAspect="1"/>
          </p:cNvPicPr>
          <p:nvPr/>
        </p:nvPicPr>
        <p:blipFill>
          <a:blip r:embed="rId3"/>
          <a:stretch>
            <a:fillRect/>
          </a:stretch>
        </p:blipFill>
        <p:spPr>
          <a:xfrm>
            <a:off x="6422441" y="1865089"/>
            <a:ext cx="4903622" cy="3027236"/>
          </a:xfrm>
          <a:prstGeom prst="rect">
            <a:avLst/>
          </a:prstGeom>
        </p:spPr>
      </p:pic>
      <p:pic>
        <p:nvPicPr>
          <p:cNvPr id="15" name="Picture 14">
            <a:extLst>
              <a:ext uri="{FF2B5EF4-FFF2-40B4-BE49-F238E27FC236}">
                <a16:creationId xmlns:a16="http://schemas.microsoft.com/office/drawing/2014/main" id="{32F86158-E2EA-A381-1228-B40587F755B0}"/>
              </a:ext>
            </a:extLst>
          </p:cNvPr>
          <p:cNvPicPr>
            <a:picLocks noChangeAspect="1"/>
          </p:cNvPicPr>
          <p:nvPr/>
        </p:nvPicPr>
        <p:blipFill>
          <a:blip r:embed="rId4"/>
          <a:stretch>
            <a:fillRect/>
          </a:stretch>
        </p:blipFill>
        <p:spPr>
          <a:xfrm>
            <a:off x="1257644" y="1865089"/>
            <a:ext cx="4059248" cy="3027236"/>
          </a:xfrm>
          <a:prstGeom prst="rect">
            <a:avLst/>
          </a:prstGeom>
        </p:spPr>
      </p:pic>
      <p:sp>
        <p:nvSpPr>
          <p:cNvPr id="16" name="Rectangle 15">
            <a:extLst>
              <a:ext uri="{FF2B5EF4-FFF2-40B4-BE49-F238E27FC236}">
                <a16:creationId xmlns:a16="http://schemas.microsoft.com/office/drawing/2014/main" id="{FDFC47E3-CCD0-D00E-1D3F-D48A216FE30D}"/>
              </a:ext>
            </a:extLst>
          </p:cNvPr>
          <p:cNvSpPr/>
          <p:nvPr/>
        </p:nvSpPr>
        <p:spPr>
          <a:xfrm>
            <a:off x="8145780" y="2205990"/>
            <a:ext cx="89915" cy="39252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pic>
        <p:nvPicPr>
          <p:cNvPr id="26" name="Picture 25">
            <a:extLst>
              <a:ext uri="{FF2B5EF4-FFF2-40B4-BE49-F238E27FC236}">
                <a16:creationId xmlns:a16="http://schemas.microsoft.com/office/drawing/2014/main" id="{EEF6C6FF-A501-90A1-8404-89876EE8AE41}"/>
              </a:ext>
            </a:extLst>
          </p:cNvPr>
          <p:cNvPicPr>
            <a:picLocks noChangeAspect="1"/>
          </p:cNvPicPr>
          <p:nvPr/>
        </p:nvPicPr>
        <p:blipFill>
          <a:blip r:embed="rId5"/>
          <a:stretch>
            <a:fillRect/>
          </a:stretch>
        </p:blipFill>
        <p:spPr>
          <a:xfrm>
            <a:off x="8145780" y="2327398"/>
            <a:ext cx="74295" cy="96583"/>
          </a:xfrm>
          <a:prstGeom prst="rect">
            <a:avLst/>
          </a:prstGeom>
        </p:spPr>
      </p:pic>
      <p:pic>
        <p:nvPicPr>
          <p:cNvPr id="30" name="Picture 29">
            <a:extLst>
              <a:ext uri="{FF2B5EF4-FFF2-40B4-BE49-F238E27FC236}">
                <a16:creationId xmlns:a16="http://schemas.microsoft.com/office/drawing/2014/main" id="{1522B53D-4B4C-4DA3-F0F9-75268603B906}"/>
              </a:ext>
            </a:extLst>
          </p:cNvPr>
          <p:cNvPicPr>
            <a:picLocks noChangeAspect="1"/>
          </p:cNvPicPr>
          <p:nvPr/>
        </p:nvPicPr>
        <p:blipFill>
          <a:blip r:embed="rId6"/>
          <a:stretch>
            <a:fillRect/>
          </a:stretch>
        </p:blipFill>
        <p:spPr>
          <a:xfrm>
            <a:off x="8139203" y="2471757"/>
            <a:ext cx="89916" cy="108429"/>
          </a:xfrm>
          <a:prstGeom prst="rect">
            <a:avLst/>
          </a:prstGeom>
        </p:spPr>
      </p:pic>
    </p:spTree>
    <p:extLst>
      <p:ext uri="{BB962C8B-B14F-4D97-AF65-F5344CB8AC3E}">
        <p14:creationId xmlns:p14="http://schemas.microsoft.com/office/powerpoint/2010/main" val="884983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5D4157"/>
          </a:solidFill>
          <a:ln w="12700">
            <a:solidFill>
              <a:srgbClr val="5D4157">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Evaluating GAMMs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35560">
            <a:solidFill>
              <a:srgbClr val="5D4157"/>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b="1" dirty="0">
                <a:solidFill>
                  <a:srgbClr val="5D4157"/>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353312"/>
            <a:ext cx="3520440" cy="320040"/>
          </a:xfrm>
          <a:prstGeom prst="rect">
            <a:avLst/>
          </a:prstGeom>
          <a:noFill/>
          <a:ln/>
        </p:spPr>
        <p:txBody>
          <a:bodyPr wrap="square" lIns="0" tIns="0" rIns="0" bIns="0" rtlCol="0" anchor="ctr"/>
          <a:lstStyle/>
          <a:p>
            <a:pPr marL="0" indent="0">
              <a:buNone/>
            </a:pPr>
            <a:r>
              <a:rPr lang="en-US" sz="1550" b="1" dirty="0">
                <a:solidFill>
                  <a:srgbClr val="5D4157"/>
                </a:solidFill>
                <a:latin typeface="Aptos Display" pitchFamily="34" charset="0"/>
                <a:ea typeface="Aptos Display" pitchFamily="34" charset="-122"/>
                <a:cs typeface="Aptos Display" pitchFamily="34" charset="-120"/>
              </a:rPr>
              <a:t>Strengths</a:t>
            </a:r>
            <a:endParaRPr lang="en-US" sz="1550" dirty="0"/>
          </a:p>
        </p:txBody>
      </p:sp>
      <p:sp>
        <p:nvSpPr>
          <p:cNvPr id="19" name="Shape 17"/>
          <p:cNvSpPr/>
          <p:nvPr/>
        </p:nvSpPr>
        <p:spPr>
          <a:xfrm>
            <a:off x="685800" y="1746504"/>
            <a:ext cx="3246120" cy="0"/>
          </a:xfrm>
          <a:prstGeom prst="line">
            <a:avLst/>
          </a:prstGeom>
          <a:noFill/>
          <a:ln w="25400">
            <a:solidFill>
              <a:srgbClr val="5D4157"/>
            </a:solidFill>
            <a:prstDash val="solid"/>
          </a:ln>
        </p:spPr>
        <p:txBody>
          <a:bodyPr/>
          <a:lstStyle/>
          <a:p>
            <a:endParaRPr lang="en-ZA"/>
          </a:p>
        </p:txBody>
      </p:sp>
      <p:sp>
        <p:nvSpPr>
          <p:cNvPr id="20" name="Text 18"/>
          <p:cNvSpPr/>
          <p:nvPr/>
        </p:nvSpPr>
        <p:spPr>
          <a:xfrm>
            <a:off x="70408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Handles nonlinear relationships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Produces interpretable curves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Separates customer-level and group-level variation</a:t>
            </a:r>
            <a:endParaRPr lang="en-US" sz="1600" dirty="0"/>
          </a:p>
        </p:txBody>
      </p:sp>
      <p:sp>
        <p:nvSpPr>
          <p:cNvPr id="21" name="Text 19"/>
          <p:cNvSpPr/>
          <p:nvPr/>
        </p:nvSpPr>
        <p:spPr>
          <a:xfrm>
            <a:off x="4434840" y="1353312"/>
            <a:ext cx="3520440" cy="320040"/>
          </a:xfrm>
          <a:prstGeom prst="rect">
            <a:avLst/>
          </a:prstGeom>
          <a:noFill/>
          <a:ln/>
        </p:spPr>
        <p:txBody>
          <a:bodyPr wrap="square" lIns="0" tIns="0" rIns="0" bIns="0" rtlCol="0" anchor="ctr"/>
          <a:lstStyle/>
          <a:p>
            <a:pPr marL="0" indent="0">
              <a:buNone/>
            </a:pPr>
            <a:r>
              <a:rPr lang="en-US" sz="1550" b="1" dirty="0">
                <a:solidFill>
                  <a:srgbClr val="8F3A2F"/>
                </a:solidFill>
                <a:latin typeface="Aptos Display" pitchFamily="34" charset="0"/>
                <a:ea typeface="Aptos Display" pitchFamily="34" charset="-122"/>
                <a:cs typeface="Aptos Display" pitchFamily="34" charset="-120"/>
              </a:rPr>
              <a:t>Weaknesses / limitations</a:t>
            </a:r>
            <a:endParaRPr lang="en-US" sz="1550" dirty="0"/>
          </a:p>
        </p:txBody>
      </p:sp>
      <p:sp>
        <p:nvSpPr>
          <p:cNvPr id="22" name="Shape 20"/>
          <p:cNvSpPr/>
          <p:nvPr/>
        </p:nvSpPr>
        <p:spPr>
          <a:xfrm>
            <a:off x="4434840" y="1746504"/>
            <a:ext cx="3246120" cy="0"/>
          </a:xfrm>
          <a:prstGeom prst="line">
            <a:avLst/>
          </a:prstGeom>
          <a:noFill/>
          <a:ln w="25400">
            <a:solidFill>
              <a:srgbClr val="8F3A2F"/>
            </a:solidFill>
            <a:prstDash val="solid"/>
          </a:ln>
        </p:spPr>
        <p:txBody>
          <a:bodyPr/>
          <a:lstStyle/>
          <a:p>
            <a:endParaRPr lang="en-ZA"/>
          </a:p>
        </p:txBody>
      </p:sp>
      <p:sp>
        <p:nvSpPr>
          <p:cNvPr id="23" name="Text 21"/>
          <p:cNvSpPr/>
          <p:nvPr/>
        </p:nvSpPr>
        <p:spPr>
          <a:xfrm>
            <a:off x="445312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Harder to explain than logistic regression</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Needs enough data within each group</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Can overfit; still not necessarily causal</a:t>
            </a:r>
            <a:endParaRPr lang="en-US" sz="1600" dirty="0"/>
          </a:p>
        </p:txBody>
      </p:sp>
      <p:sp>
        <p:nvSpPr>
          <p:cNvPr id="24" name="Text 22"/>
          <p:cNvSpPr/>
          <p:nvPr/>
        </p:nvSpPr>
        <p:spPr>
          <a:xfrm>
            <a:off x="8183880" y="1353312"/>
            <a:ext cx="3520440" cy="320040"/>
          </a:xfrm>
          <a:prstGeom prst="rect">
            <a:avLst/>
          </a:prstGeom>
          <a:noFill/>
          <a:ln/>
        </p:spPr>
        <p:txBody>
          <a:bodyPr wrap="square" lIns="0" tIns="0" rIns="0" bIns="0" rtlCol="0" anchor="ctr"/>
          <a:lstStyle/>
          <a:p>
            <a:pPr marL="0" indent="0">
              <a:buNone/>
            </a:pPr>
            <a:r>
              <a:rPr lang="en-US" sz="1550" b="1" dirty="0">
                <a:solidFill>
                  <a:srgbClr val="5A5A5A"/>
                </a:solidFill>
                <a:latin typeface="Aptos Display" pitchFamily="34" charset="0"/>
                <a:ea typeface="Aptos Display" pitchFamily="34" charset="-122"/>
                <a:cs typeface="Aptos Display" pitchFamily="34" charset="-120"/>
              </a:rPr>
              <a:t>Assumptions</a:t>
            </a:r>
            <a:endParaRPr lang="en-US" sz="1550" dirty="0"/>
          </a:p>
        </p:txBody>
      </p:sp>
      <p:sp>
        <p:nvSpPr>
          <p:cNvPr id="25" name="Shape 23"/>
          <p:cNvSpPr/>
          <p:nvPr/>
        </p:nvSpPr>
        <p:spPr>
          <a:xfrm>
            <a:off x="8183880" y="1746504"/>
            <a:ext cx="3246120" cy="0"/>
          </a:xfrm>
          <a:prstGeom prst="line">
            <a:avLst/>
          </a:prstGeom>
          <a:noFill/>
          <a:ln w="25400">
            <a:solidFill>
              <a:srgbClr val="5A5A5A"/>
            </a:solidFill>
            <a:prstDash val="solid"/>
          </a:ln>
        </p:spPr>
        <p:txBody>
          <a:bodyPr/>
          <a:lstStyle/>
          <a:p>
            <a:endParaRPr lang="en-ZA"/>
          </a:p>
        </p:txBody>
      </p:sp>
      <p:sp>
        <p:nvSpPr>
          <p:cNvPr id="26" name="Text 24"/>
          <p:cNvSpPr/>
          <p:nvPr/>
        </p:nvSpPr>
        <p:spPr>
          <a:xfrm>
            <a:off x="820216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Grouping variable represents shared context or dependency</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Smoothing choices are appropriate</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Groups have enough observations to estimate meaningful variation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DAGs for causal reasoning</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713232" y="1097280"/>
            <a:ext cx="10058400" cy="384048"/>
          </a:xfrm>
          <a:prstGeom prst="rect">
            <a:avLst/>
          </a:prstGeom>
          <a:noFill/>
          <a:ln/>
        </p:spPr>
        <p:txBody>
          <a:bodyPr wrap="square" lIns="0" tIns="0" rIns="0" bIns="0" rtlCol="0" anchor="ctr"/>
          <a:lstStyle/>
          <a:p>
            <a:pPr marL="0" indent="0">
              <a:buNone/>
            </a:pPr>
            <a:r>
              <a:rPr lang="en-US" sz="2400" b="1" dirty="0">
                <a:solidFill>
                  <a:srgbClr val="C65D2E"/>
                </a:solidFill>
                <a:latin typeface="Aptos Display" pitchFamily="34" charset="0"/>
                <a:ea typeface="Aptos Display" pitchFamily="34" charset="-122"/>
                <a:cs typeface="Aptos Display" pitchFamily="34" charset="-120"/>
              </a:rPr>
              <a:t>Before causal modelling, draw the assumed real-world structure.</a:t>
            </a:r>
            <a:endParaRPr lang="en-US" sz="2400" dirty="0"/>
          </a:p>
        </p:txBody>
      </p:sp>
      <p:sp>
        <p:nvSpPr>
          <p:cNvPr id="19" name="Shape 17"/>
          <p:cNvSpPr/>
          <p:nvPr/>
        </p:nvSpPr>
        <p:spPr>
          <a:xfrm>
            <a:off x="649224" y="3209545"/>
            <a:ext cx="10698480" cy="1965960"/>
          </a:xfrm>
          <a:prstGeom prst="roundRect">
            <a:avLst>
              <a:gd name="adj" fmla="val 2326"/>
            </a:avLst>
          </a:prstGeom>
          <a:solidFill>
            <a:srgbClr val="FFFFFF"/>
          </a:solidFill>
          <a:ln w="10160">
            <a:solidFill>
              <a:srgbClr val="E6E0D8"/>
            </a:solidFill>
            <a:prstDash val="solid"/>
          </a:ln>
        </p:spPr>
        <p:txBody>
          <a:bodyPr/>
          <a:lstStyle/>
          <a:p>
            <a:endParaRPr lang="en-ZA" dirty="0"/>
          </a:p>
        </p:txBody>
      </p:sp>
      <p:sp>
        <p:nvSpPr>
          <p:cNvPr id="20" name="Text 18"/>
          <p:cNvSpPr/>
          <p:nvPr/>
        </p:nvSpPr>
        <p:spPr>
          <a:xfrm>
            <a:off x="795528" y="3328417"/>
            <a:ext cx="10405872" cy="182880"/>
          </a:xfrm>
          <a:prstGeom prst="rect">
            <a:avLst/>
          </a:prstGeom>
          <a:noFill/>
          <a:ln/>
        </p:spPr>
        <p:txBody>
          <a:bodyPr wrap="square" lIns="0" tIns="0" rIns="0" bIns="0" rtlCol="0" anchor="ctr"/>
          <a:lstStyle/>
          <a:p>
            <a:pPr marL="0" indent="0">
              <a:buNone/>
            </a:pPr>
            <a:r>
              <a:rPr lang="en-US" sz="1000" b="1" dirty="0">
                <a:solidFill>
                  <a:srgbClr val="2B2A28"/>
                </a:solidFill>
                <a:latin typeface="Aptos" pitchFamily="34" charset="0"/>
                <a:ea typeface="Aptos" pitchFamily="34" charset="-122"/>
                <a:cs typeface="Aptos" pitchFamily="34" charset="-120"/>
              </a:rPr>
              <a:t>Assumption map: service experience, trust, commitment and churn</a:t>
            </a:r>
            <a:endParaRPr lang="en-US" sz="1000" dirty="0"/>
          </a:p>
        </p:txBody>
      </p:sp>
      <p:sp>
        <p:nvSpPr>
          <p:cNvPr id="22" name="Text 19"/>
          <p:cNvSpPr/>
          <p:nvPr/>
        </p:nvSpPr>
        <p:spPr>
          <a:xfrm>
            <a:off x="832104" y="1682495"/>
            <a:ext cx="9875520" cy="109728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A DAG is not a model output; it is an assumption map</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It forces clarity about what causes what and what must be controlled</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It prepares the ground for SEM and causal effect estimation</a:t>
            </a:r>
            <a:endParaRPr lang="en-US" sz="1600" dirty="0"/>
          </a:p>
        </p:txBody>
      </p:sp>
      <p:pic>
        <p:nvPicPr>
          <p:cNvPr id="24" name="Picture 23">
            <a:extLst>
              <a:ext uri="{FF2B5EF4-FFF2-40B4-BE49-F238E27FC236}">
                <a16:creationId xmlns:a16="http://schemas.microsoft.com/office/drawing/2014/main" id="{A5D0D523-5EBA-44F6-B06B-3D087EC1517A}"/>
              </a:ext>
            </a:extLst>
          </p:cNvPr>
          <p:cNvPicPr>
            <a:picLocks noChangeAspect="1"/>
          </p:cNvPicPr>
          <p:nvPr/>
        </p:nvPicPr>
        <p:blipFill>
          <a:blip r:embed="rId3"/>
          <a:stretch>
            <a:fillRect/>
          </a:stretch>
        </p:blipFill>
        <p:spPr>
          <a:xfrm>
            <a:off x="1783651" y="3579118"/>
            <a:ext cx="8429625" cy="133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SEM for modelling relationships between constructs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Shape 16"/>
          <p:cNvSpPr/>
          <p:nvPr/>
        </p:nvSpPr>
        <p:spPr>
          <a:xfrm>
            <a:off x="658368" y="1143000"/>
            <a:ext cx="10881360" cy="3794760"/>
          </a:xfrm>
          <a:prstGeom prst="roundRect">
            <a:avLst>
              <a:gd name="adj" fmla="val 1205"/>
            </a:avLst>
          </a:prstGeom>
          <a:solidFill>
            <a:srgbClr val="FFFFFF"/>
          </a:solidFill>
          <a:ln w="10160">
            <a:solidFill>
              <a:srgbClr val="E6E0D8"/>
            </a:solidFill>
            <a:prstDash val="solid"/>
          </a:ln>
        </p:spPr>
        <p:txBody>
          <a:bodyPr/>
          <a:lstStyle/>
          <a:p>
            <a:endParaRPr lang="en-ZA"/>
          </a:p>
        </p:txBody>
      </p:sp>
      <p:sp>
        <p:nvSpPr>
          <p:cNvPr id="19" name="Text 17"/>
          <p:cNvSpPr/>
          <p:nvPr/>
        </p:nvSpPr>
        <p:spPr>
          <a:xfrm>
            <a:off x="804672" y="1261872"/>
            <a:ext cx="10588752" cy="182880"/>
          </a:xfrm>
          <a:prstGeom prst="rect">
            <a:avLst/>
          </a:prstGeom>
          <a:noFill/>
          <a:ln/>
        </p:spPr>
        <p:txBody>
          <a:bodyPr wrap="square" lIns="0" tIns="0" rIns="0" bIns="0" rtlCol="0" anchor="ctr"/>
          <a:lstStyle/>
          <a:p>
            <a:pPr marL="0" indent="0">
              <a:buNone/>
            </a:pPr>
            <a:r>
              <a:rPr lang="en-US" sz="1000" b="1" dirty="0">
                <a:solidFill>
                  <a:srgbClr val="2B2A28"/>
                </a:solidFill>
                <a:latin typeface="Aptos" pitchFamily="34" charset="0"/>
                <a:ea typeface="Aptos" pitchFamily="34" charset="-122"/>
                <a:cs typeface="Aptos" pitchFamily="34" charset="-120"/>
              </a:rPr>
              <a:t>Observed indicators and latent constructs</a:t>
            </a:r>
            <a:endParaRPr lang="en-US" sz="1000" dirty="0"/>
          </a:p>
        </p:txBody>
      </p:sp>
      <p:sp>
        <p:nvSpPr>
          <p:cNvPr id="22" name="Text 19"/>
          <p:cNvSpPr/>
          <p:nvPr/>
        </p:nvSpPr>
        <p:spPr>
          <a:xfrm>
            <a:off x="1124712" y="5340096"/>
            <a:ext cx="10332720" cy="438912"/>
          </a:xfrm>
          <a:prstGeom prst="rect">
            <a:avLst/>
          </a:prstGeom>
          <a:noFill/>
          <a:ln/>
        </p:spPr>
        <p:txBody>
          <a:bodyPr wrap="square" lIns="254" tIns="254" rIns="254" bIns="254" rtlCol="0" anchor="ctr">
            <a:normAutofit/>
          </a:bodyPr>
          <a:lstStyle/>
          <a:p>
            <a:pPr marL="0" indent="0" algn="ctr">
              <a:buNone/>
            </a:pPr>
            <a:r>
              <a:rPr lang="en-US" sz="1480" b="1" dirty="0">
                <a:solidFill>
                  <a:srgbClr val="1F2933"/>
                </a:solidFill>
                <a:latin typeface="Aptos" pitchFamily="34" charset="0"/>
                <a:ea typeface="Aptos" pitchFamily="34" charset="-122"/>
                <a:cs typeface="Aptos" pitchFamily="34" charset="-120"/>
              </a:rPr>
              <a:t>SEM models a system of relationships, including latent constructs.</a:t>
            </a:r>
            <a:endParaRPr lang="en-US" sz="1480" dirty="0"/>
          </a:p>
        </p:txBody>
      </p:sp>
      <p:pic>
        <p:nvPicPr>
          <p:cNvPr id="26" name="Picture 25">
            <a:extLst>
              <a:ext uri="{FF2B5EF4-FFF2-40B4-BE49-F238E27FC236}">
                <a16:creationId xmlns:a16="http://schemas.microsoft.com/office/drawing/2014/main" id="{6AADC18A-8B4E-4FEE-A481-D848F4E06014}"/>
              </a:ext>
            </a:extLst>
          </p:cNvPr>
          <p:cNvPicPr>
            <a:picLocks noChangeAspect="1"/>
          </p:cNvPicPr>
          <p:nvPr/>
        </p:nvPicPr>
        <p:blipFill>
          <a:blip r:embed="rId3"/>
          <a:stretch>
            <a:fillRect/>
          </a:stretch>
        </p:blipFill>
        <p:spPr>
          <a:xfrm>
            <a:off x="1865947" y="1824418"/>
            <a:ext cx="8429625" cy="27336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Bayesian SEM for uncertainty in structure</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713232" y="1097280"/>
            <a:ext cx="10058400" cy="384048"/>
          </a:xfrm>
          <a:prstGeom prst="rect">
            <a:avLst/>
          </a:prstGeom>
          <a:noFill/>
          <a:ln/>
        </p:spPr>
        <p:txBody>
          <a:bodyPr wrap="square" lIns="0" tIns="0" rIns="0" bIns="0" rtlCol="0" anchor="ctr"/>
          <a:lstStyle/>
          <a:p>
            <a:pPr marL="0" indent="0">
              <a:buNone/>
            </a:pPr>
            <a:r>
              <a:rPr lang="en-US" sz="2400" b="1" dirty="0">
                <a:solidFill>
                  <a:srgbClr val="C65D2E"/>
                </a:solidFill>
                <a:latin typeface="Aptos Display" pitchFamily="34" charset="0"/>
                <a:ea typeface="Aptos Display" pitchFamily="34" charset="-122"/>
              </a:rPr>
              <a:t>Bayesian SEM:</a:t>
            </a:r>
            <a:endParaRPr lang="en-US" sz="2400" dirty="0"/>
          </a:p>
        </p:txBody>
      </p:sp>
      <p:sp>
        <p:nvSpPr>
          <p:cNvPr id="19" name="Shape 17"/>
          <p:cNvSpPr/>
          <p:nvPr/>
        </p:nvSpPr>
        <p:spPr>
          <a:xfrm>
            <a:off x="649224" y="3209544"/>
            <a:ext cx="10698480" cy="2551169"/>
          </a:xfrm>
          <a:prstGeom prst="roundRect">
            <a:avLst>
              <a:gd name="adj" fmla="val 2326"/>
            </a:avLst>
          </a:prstGeom>
          <a:solidFill>
            <a:srgbClr val="FFFFFF"/>
          </a:solidFill>
          <a:ln w="10160">
            <a:solidFill>
              <a:srgbClr val="E6E0D8"/>
            </a:solidFill>
            <a:prstDash val="solid"/>
          </a:ln>
        </p:spPr>
        <p:txBody>
          <a:bodyPr/>
          <a:lstStyle/>
          <a:p>
            <a:endParaRPr lang="en-ZA" dirty="0"/>
          </a:p>
        </p:txBody>
      </p:sp>
      <p:sp>
        <p:nvSpPr>
          <p:cNvPr id="20" name="Text 18"/>
          <p:cNvSpPr/>
          <p:nvPr/>
        </p:nvSpPr>
        <p:spPr>
          <a:xfrm>
            <a:off x="795528" y="3328417"/>
            <a:ext cx="10405872" cy="182880"/>
          </a:xfrm>
          <a:prstGeom prst="rect">
            <a:avLst/>
          </a:prstGeom>
          <a:noFill/>
          <a:ln/>
        </p:spPr>
        <p:txBody>
          <a:bodyPr wrap="square" lIns="0" tIns="0" rIns="0" bIns="0" rtlCol="0" anchor="ctr"/>
          <a:lstStyle/>
          <a:p>
            <a:r>
              <a:rPr lang="en-US" sz="1000" b="1" dirty="0">
                <a:solidFill>
                  <a:srgbClr val="2B2A28"/>
                </a:solidFill>
                <a:latin typeface="Aptos" pitchFamily="34" charset="0"/>
                <a:ea typeface="Aptos" pitchFamily="34" charset="-122"/>
                <a:cs typeface="Aptos" pitchFamily="34" charset="-120"/>
              </a:rPr>
              <a:t>Pathways with uncertainty around estimates</a:t>
            </a:r>
            <a:endParaRPr lang="en-US" sz="1000" dirty="0"/>
          </a:p>
        </p:txBody>
      </p:sp>
      <p:sp>
        <p:nvSpPr>
          <p:cNvPr id="22" name="Text 19"/>
          <p:cNvSpPr/>
          <p:nvPr/>
        </p:nvSpPr>
        <p:spPr>
          <a:xfrm>
            <a:off x="832104" y="1682495"/>
            <a:ext cx="9875520" cy="109728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Standard SEM estimates pathway strengths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Bayesian SEM estimates distributions of plausible values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Useful when theory, prior evidence and current data need to be combined</a:t>
            </a:r>
            <a:endParaRPr lang="en-US" sz="1600" dirty="0"/>
          </a:p>
        </p:txBody>
      </p:sp>
      <p:pic>
        <p:nvPicPr>
          <p:cNvPr id="23" name="Picture 22">
            <a:extLst>
              <a:ext uri="{FF2B5EF4-FFF2-40B4-BE49-F238E27FC236}">
                <a16:creationId xmlns:a16="http://schemas.microsoft.com/office/drawing/2014/main" id="{5C296C68-DCB8-45C1-AD28-289090EAE77E}"/>
              </a:ext>
            </a:extLst>
          </p:cNvPr>
          <p:cNvPicPr>
            <a:picLocks noChangeAspect="1"/>
          </p:cNvPicPr>
          <p:nvPr/>
        </p:nvPicPr>
        <p:blipFill>
          <a:blip r:embed="rId3"/>
          <a:stretch>
            <a:fillRect/>
          </a:stretch>
        </p:blipFill>
        <p:spPr>
          <a:xfrm>
            <a:off x="1881187" y="3630170"/>
            <a:ext cx="8429625" cy="1771650"/>
          </a:xfrm>
          <a:prstGeom prst="rect">
            <a:avLst/>
          </a:prstGeom>
        </p:spPr>
      </p:pic>
    </p:spTree>
    <p:extLst>
      <p:ext uri="{BB962C8B-B14F-4D97-AF65-F5344CB8AC3E}">
        <p14:creationId xmlns:p14="http://schemas.microsoft.com/office/powerpoint/2010/main" val="124577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Evaluating Bayesian SEM</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353312"/>
            <a:ext cx="3520440" cy="320040"/>
          </a:xfrm>
          <a:prstGeom prst="rect">
            <a:avLst/>
          </a:prstGeom>
          <a:noFill/>
          <a:ln/>
        </p:spPr>
        <p:txBody>
          <a:bodyPr wrap="square" lIns="0" tIns="0" rIns="0" bIns="0" rtlCol="0" anchor="ctr"/>
          <a:lstStyle/>
          <a:p>
            <a:pPr marL="0" indent="0">
              <a:buNone/>
            </a:pPr>
            <a:r>
              <a:rPr lang="en-US" sz="1550" b="1" dirty="0">
                <a:solidFill>
                  <a:srgbClr val="C65D2E"/>
                </a:solidFill>
                <a:latin typeface="Aptos Display" pitchFamily="34" charset="0"/>
                <a:ea typeface="Aptos Display" pitchFamily="34" charset="-122"/>
                <a:cs typeface="Aptos Display" pitchFamily="34" charset="-120"/>
              </a:rPr>
              <a:t>Strengths</a:t>
            </a:r>
            <a:endParaRPr lang="en-US" sz="1550" dirty="0"/>
          </a:p>
        </p:txBody>
      </p:sp>
      <p:sp>
        <p:nvSpPr>
          <p:cNvPr id="19" name="Shape 17"/>
          <p:cNvSpPr/>
          <p:nvPr/>
        </p:nvSpPr>
        <p:spPr>
          <a:xfrm>
            <a:off x="685800" y="1746504"/>
            <a:ext cx="3246120" cy="0"/>
          </a:xfrm>
          <a:prstGeom prst="line">
            <a:avLst/>
          </a:prstGeom>
          <a:noFill/>
          <a:ln w="25400">
            <a:solidFill>
              <a:srgbClr val="C65D2E"/>
            </a:solidFill>
            <a:prstDash val="solid"/>
          </a:ln>
        </p:spPr>
        <p:txBody>
          <a:bodyPr/>
          <a:lstStyle/>
          <a:p>
            <a:endParaRPr lang="en-ZA"/>
          </a:p>
        </p:txBody>
      </p:sp>
      <p:sp>
        <p:nvSpPr>
          <p:cNvPr id="20" name="Text 18"/>
          <p:cNvSpPr/>
          <p:nvPr/>
        </p:nvSpPr>
        <p:spPr>
          <a:xfrm>
            <a:off x="70408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Represents uncertainty directly</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Incorporates prior knowledge</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Useful for complex or smaller-sample models</a:t>
            </a:r>
            <a:endParaRPr lang="en-US" sz="1600" dirty="0"/>
          </a:p>
        </p:txBody>
      </p:sp>
      <p:sp>
        <p:nvSpPr>
          <p:cNvPr id="21" name="Text 19"/>
          <p:cNvSpPr/>
          <p:nvPr/>
        </p:nvSpPr>
        <p:spPr>
          <a:xfrm>
            <a:off x="4434840" y="1353312"/>
            <a:ext cx="3520440" cy="320040"/>
          </a:xfrm>
          <a:prstGeom prst="rect">
            <a:avLst/>
          </a:prstGeom>
          <a:noFill/>
          <a:ln/>
        </p:spPr>
        <p:txBody>
          <a:bodyPr wrap="square" lIns="0" tIns="0" rIns="0" bIns="0" rtlCol="0" anchor="ctr"/>
          <a:lstStyle/>
          <a:p>
            <a:pPr marL="0" indent="0">
              <a:buNone/>
            </a:pPr>
            <a:r>
              <a:rPr lang="en-US" sz="1550" b="1" dirty="0">
                <a:solidFill>
                  <a:srgbClr val="8F3A2F"/>
                </a:solidFill>
                <a:latin typeface="Aptos Display" pitchFamily="34" charset="0"/>
                <a:ea typeface="Aptos Display" pitchFamily="34" charset="-122"/>
                <a:cs typeface="Aptos Display" pitchFamily="34" charset="-120"/>
              </a:rPr>
              <a:t>Weaknesses / limitations</a:t>
            </a:r>
            <a:endParaRPr lang="en-US" sz="1550" dirty="0"/>
          </a:p>
        </p:txBody>
      </p:sp>
      <p:sp>
        <p:nvSpPr>
          <p:cNvPr id="22" name="Shape 20"/>
          <p:cNvSpPr/>
          <p:nvPr/>
        </p:nvSpPr>
        <p:spPr>
          <a:xfrm>
            <a:off x="4434840" y="1746504"/>
            <a:ext cx="3246120" cy="0"/>
          </a:xfrm>
          <a:prstGeom prst="line">
            <a:avLst/>
          </a:prstGeom>
          <a:noFill/>
          <a:ln w="25400">
            <a:solidFill>
              <a:srgbClr val="8F3A2F"/>
            </a:solidFill>
            <a:prstDash val="solid"/>
          </a:ln>
        </p:spPr>
        <p:txBody>
          <a:bodyPr/>
          <a:lstStyle/>
          <a:p>
            <a:endParaRPr lang="en-ZA"/>
          </a:p>
        </p:txBody>
      </p:sp>
      <p:sp>
        <p:nvSpPr>
          <p:cNvPr id="23" name="Text 21"/>
          <p:cNvSpPr/>
          <p:nvPr/>
        </p:nvSpPr>
        <p:spPr>
          <a:xfrm>
            <a:off x="445312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Technically demanding</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Priors must be justified</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Harder to explain to stakeholders than a single coefficient</a:t>
            </a:r>
            <a:endParaRPr lang="en-US" sz="1600" dirty="0"/>
          </a:p>
        </p:txBody>
      </p:sp>
      <p:sp>
        <p:nvSpPr>
          <p:cNvPr id="24" name="Text 22"/>
          <p:cNvSpPr/>
          <p:nvPr/>
        </p:nvSpPr>
        <p:spPr>
          <a:xfrm>
            <a:off x="8183880" y="1353312"/>
            <a:ext cx="3520440" cy="320040"/>
          </a:xfrm>
          <a:prstGeom prst="rect">
            <a:avLst/>
          </a:prstGeom>
          <a:noFill/>
          <a:ln/>
        </p:spPr>
        <p:txBody>
          <a:bodyPr wrap="square" lIns="0" tIns="0" rIns="0" bIns="0" rtlCol="0" anchor="ctr"/>
          <a:lstStyle/>
          <a:p>
            <a:pPr marL="0" indent="0">
              <a:buNone/>
            </a:pPr>
            <a:r>
              <a:rPr lang="en-US" sz="1550" b="1" dirty="0">
                <a:solidFill>
                  <a:srgbClr val="5A5A5A"/>
                </a:solidFill>
                <a:latin typeface="Aptos Display" pitchFamily="34" charset="0"/>
                <a:ea typeface="Aptos Display" pitchFamily="34" charset="-122"/>
                <a:cs typeface="Aptos Display" pitchFamily="34" charset="-120"/>
              </a:rPr>
              <a:t>Assumptions</a:t>
            </a:r>
            <a:endParaRPr lang="en-US" sz="1550" dirty="0"/>
          </a:p>
        </p:txBody>
      </p:sp>
      <p:sp>
        <p:nvSpPr>
          <p:cNvPr id="25" name="Shape 23"/>
          <p:cNvSpPr/>
          <p:nvPr/>
        </p:nvSpPr>
        <p:spPr>
          <a:xfrm>
            <a:off x="8183880" y="1746504"/>
            <a:ext cx="3246120" cy="0"/>
          </a:xfrm>
          <a:prstGeom prst="line">
            <a:avLst/>
          </a:prstGeom>
          <a:noFill/>
          <a:ln w="25400">
            <a:solidFill>
              <a:srgbClr val="5A5A5A"/>
            </a:solidFill>
            <a:prstDash val="solid"/>
          </a:ln>
        </p:spPr>
        <p:txBody>
          <a:bodyPr/>
          <a:lstStyle/>
          <a:p>
            <a:endParaRPr lang="en-ZA"/>
          </a:p>
        </p:txBody>
      </p:sp>
      <p:sp>
        <p:nvSpPr>
          <p:cNvPr id="26" name="Text 24"/>
          <p:cNvSpPr/>
          <p:nvPr/>
        </p:nvSpPr>
        <p:spPr>
          <a:xfrm>
            <a:off x="820216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Measurement model is meaningful</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Structural pathways are theoretically justified</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Priors are appropriate and sensitivity-checked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Causal inference: estimating intervention effects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713232" y="1097280"/>
            <a:ext cx="10058400" cy="384048"/>
          </a:xfrm>
          <a:prstGeom prst="rect">
            <a:avLst/>
          </a:prstGeom>
          <a:noFill/>
          <a:ln/>
        </p:spPr>
        <p:txBody>
          <a:bodyPr wrap="square" lIns="0" tIns="0" rIns="0" bIns="0" rtlCol="0" anchor="ctr"/>
          <a:lstStyle/>
          <a:p>
            <a:pPr marL="0" indent="0">
              <a:buNone/>
            </a:pPr>
            <a:r>
              <a:rPr lang="en-US" sz="2400" b="1" dirty="0">
                <a:solidFill>
                  <a:srgbClr val="C65D2E"/>
                </a:solidFill>
                <a:latin typeface="Aptos Display" pitchFamily="34" charset="0"/>
                <a:ea typeface="Aptos Display" pitchFamily="34" charset="-122"/>
              </a:rPr>
              <a:t>Estimating the counterfactual:</a:t>
            </a:r>
            <a:endParaRPr lang="en-US" sz="2400" dirty="0"/>
          </a:p>
        </p:txBody>
      </p:sp>
      <p:sp>
        <p:nvSpPr>
          <p:cNvPr id="19" name="Shape 17"/>
          <p:cNvSpPr/>
          <p:nvPr/>
        </p:nvSpPr>
        <p:spPr>
          <a:xfrm>
            <a:off x="649224" y="3209544"/>
            <a:ext cx="10698480" cy="2551169"/>
          </a:xfrm>
          <a:prstGeom prst="roundRect">
            <a:avLst>
              <a:gd name="adj" fmla="val 2326"/>
            </a:avLst>
          </a:prstGeom>
          <a:solidFill>
            <a:srgbClr val="FFFFFF"/>
          </a:solidFill>
          <a:ln w="10160">
            <a:solidFill>
              <a:srgbClr val="E6E0D8"/>
            </a:solidFill>
            <a:prstDash val="solid"/>
          </a:ln>
        </p:spPr>
        <p:txBody>
          <a:bodyPr/>
          <a:lstStyle/>
          <a:p>
            <a:endParaRPr lang="en-ZA" dirty="0"/>
          </a:p>
        </p:txBody>
      </p:sp>
      <p:sp>
        <p:nvSpPr>
          <p:cNvPr id="20" name="Text 18"/>
          <p:cNvSpPr/>
          <p:nvPr/>
        </p:nvSpPr>
        <p:spPr>
          <a:xfrm>
            <a:off x="795528" y="3328417"/>
            <a:ext cx="10405872" cy="182880"/>
          </a:xfrm>
          <a:prstGeom prst="rect">
            <a:avLst/>
          </a:prstGeom>
          <a:noFill/>
          <a:ln/>
        </p:spPr>
        <p:txBody>
          <a:bodyPr wrap="square" lIns="0" tIns="0" rIns="0" bIns="0" rtlCol="0" anchor="ctr"/>
          <a:lstStyle/>
          <a:p>
            <a:r>
              <a:rPr lang="en-US" sz="1000" b="1" dirty="0">
                <a:solidFill>
                  <a:srgbClr val="2B2A28"/>
                </a:solidFill>
                <a:latin typeface="Aptos" pitchFamily="34" charset="0"/>
                <a:ea typeface="Aptos" pitchFamily="34" charset="-122"/>
              </a:rPr>
              <a:t>Estimating the effect of intervention</a:t>
            </a:r>
            <a:endParaRPr lang="en-US" sz="1000" dirty="0"/>
          </a:p>
        </p:txBody>
      </p:sp>
      <p:sp>
        <p:nvSpPr>
          <p:cNvPr id="22" name="Text 19"/>
          <p:cNvSpPr/>
          <p:nvPr/>
        </p:nvSpPr>
        <p:spPr>
          <a:xfrm>
            <a:off x="832104" y="1682495"/>
            <a:ext cx="9875520" cy="109728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t>Cannot observe the same customer both receiving and not receiving treatment at the same time.</a:t>
            </a:r>
          </a:p>
          <a:p>
            <a:pPr marL="285750" indent="-285750">
              <a:buFont typeface="Arial" panose="020B0604020202020204" pitchFamily="34" charset="0"/>
              <a:buChar char="•"/>
            </a:pPr>
            <a:r>
              <a:rPr lang="en-US" sz="1600" dirty="0"/>
              <a:t>Hypothetical intervention extension. </a:t>
            </a:r>
          </a:p>
          <a:p>
            <a:pPr marL="285750" indent="-285750">
              <a:buFont typeface="Arial" panose="020B0604020202020204" pitchFamily="34" charset="0"/>
              <a:buChar char="•"/>
            </a:pPr>
            <a:r>
              <a:rPr lang="en-US" sz="1600" dirty="0"/>
              <a:t>Methods considered: propensity score matching and difference-in-differences.  </a:t>
            </a:r>
          </a:p>
        </p:txBody>
      </p:sp>
      <p:pic>
        <p:nvPicPr>
          <p:cNvPr id="15" name="Picture 14">
            <a:extLst>
              <a:ext uri="{FF2B5EF4-FFF2-40B4-BE49-F238E27FC236}">
                <a16:creationId xmlns:a16="http://schemas.microsoft.com/office/drawing/2014/main" id="{A9E578E5-009C-4332-9124-619E5EB04A6E}"/>
              </a:ext>
            </a:extLst>
          </p:cNvPr>
          <p:cNvPicPr>
            <a:picLocks noChangeAspect="1"/>
          </p:cNvPicPr>
          <p:nvPr/>
        </p:nvPicPr>
        <p:blipFill>
          <a:blip r:embed="rId3"/>
          <a:stretch>
            <a:fillRect/>
          </a:stretch>
        </p:blipFill>
        <p:spPr>
          <a:xfrm>
            <a:off x="1616964" y="3751703"/>
            <a:ext cx="8763000" cy="1466850"/>
          </a:xfrm>
          <a:prstGeom prst="rect">
            <a:avLst/>
          </a:prstGeom>
        </p:spPr>
      </p:pic>
    </p:spTree>
    <p:extLst>
      <p:ext uri="{BB962C8B-B14F-4D97-AF65-F5344CB8AC3E}">
        <p14:creationId xmlns:p14="http://schemas.microsoft.com/office/powerpoint/2010/main" val="3583235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Causal inference: propensity score matching</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713232" y="1097280"/>
            <a:ext cx="10058400" cy="384048"/>
          </a:xfrm>
          <a:prstGeom prst="rect">
            <a:avLst/>
          </a:prstGeom>
          <a:noFill/>
          <a:ln/>
        </p:spPr>
        <p:txBody>
          <a:bodyPr wrap="square" lIns="0" tIns="0" rIns="0" bIns="0" rtlCol="0" anchor="ctr"/>
          <a:lstStyle/>
          <a:p>
            <a:pPr marL="0" indent="0">
              <a:buNone/>
            </a:pPr>
            <a:r>
              <a:rPr lang="en-US" sz="2400" b="1" dirty="0">
                <a:solidFill>
                  <a:srgbClr val="C65D2E"/>
                </a:solidFill>
                <a:latin typeface="Aptos Display" pitchFamily="34" charset="0"/>
                <a:ea typeface="Aptos Display" pitchFamily="34" charset="-122"/>
              </a:rPr>
              <a:t>Using PSM to estimate intervention effects:</a:t>
            </a:r>
            <a:endParaRPr lang="en-US" sz="2400" dirty="0"/>
          </a:p>
        </p:txBody>
      </p:sp>
      <p:sp>
        <p:nvSpPr>
          <p:cNvPr id="22" name="Text 19"/>
          <p:cNvSpPr/>
          <p:nvPr/>
        </p:nvSpPr>
        <p:spPr>
          <a:xfrm>
            <a:off x="832104" y="1682495"/>
            <a:ext cx="9875520" cy="1097280"/>
          </a:xfrm>
          <a:prstGeom prst="rect">
            <a:avLst/>
          </a:prstGeom>
          <a:noFill/>
          <a:ln/>
        </p:spPr>
        <p:txBody>
          <a:bodyPr wrap="square" lIns="635" tIns="635" rIns="635" bIns="635" rtlCol="0" anchor="t">
            <a:normAutofit fontScale="92500" lnSpcReduction="10000"/>
          </a:bodyPr>
          <a:lstStyle/>
          <a:p>
            <a:pPr marL="342900" marR="0" indent="-342900">
              <a:lnSpc>
                <a:spcPct val="107000"/>
              </a:lnSpc>
              <a:spcBef>
                <a:spcPts val="0"/>
              </a:spcBef>
              <a:spcAft>
                <a:spcPts val="800"/>
              </a:spcAft>
              <a:buFont typeface="+mj-lt"/>
              <a:buAutoNum type="arabicPeriod"/>
            </a:pPr>
            <a:r>
              <a:rPr lang="en-ZA" sz="1800" dirty="0">
                <a:effectLst/>
                <a:latin typeface="Calibri" panose="020F0502020204030204" pitchFamily="34" charset="0"/>
                <a:ea typeface="Calibri" panose="020F0502020204030204" pitchFamily="34" charset="0"/>
                <a:cs typeface="Times New Roman" panose="02020603050405020304" pitchFamily="18" charset="0"/>
              </a:rPr>
              <a:t>Estimate each customer’s probability of receiving a retention offer. </a:t>
            </a:r>
          </a:p>
          <a:p>
            <a:pPr marL="342900" marR="0" indent="-342900">
              <a:lnSpc>
                <a:spcPct val="107000"/>
              </a:lnSpc>
              <a:spcBef>
                <a:spcPts val="0"/>
              </a:spcBef>
              <a:spcAft>
                <a:spcPts val="800"/>
              </a:spcAft>
              <a:buFont typeface="+mj-lt"/>
              <a:buAutoNum type="arabicPeriod"/>
            </a:pPr>
            <a:r>
              <a:rPr lang="en-ZA" sz="1800" dirty="0">
                <a:effectLst/>
                <a:latin typeface="Calibri" panose="020F0502020204030204" pitchFamily="34" charset="0"/>
                <a:ea typeface="Calibri" panose="020F0502020204030204" pitchFamily="34" charset="0"/>
                <a:cs typeface="Times New Roman" panose="02020603050405020304" pitchFamily="18" charset="0"/>
              </a:rPr>
              <a:t>Match each recipient with a non-recipient who had a similar probability of receiving a retention offer.</a:t>
            </a:r>
          </a:p>
          <a:p>
            <a:pPr marL="342900" marR="0" indent="-342900">
              <a:lnSpc>
                <a:spcPct val="107000"/>
              </a:lnSpc>
              <a:spcBef>
                <a:spcPts val="0"/>
              </a:spcBef>
              <a:spcAft>
                <a:spcPts val="800"/>
              </a:spcAft>
              <a:buFont typeface="+mj-lt"/>
              <a:buAutoNum type="arabicPeriod"/>
            </a:pPr>
            <a:r>
              <a:rPr lang="en-ZA" sz="1800" dirty="0">
                <a:effectLst/>
                <a:latin typeface="Calibri" panose="020F0502020204030204" pitchFamily="34" charset="0"/>
                <a:ea typeface="Calibri" panose="020F0502020204030204" pitchFamily="34" charset="0"/>
                <a:cs typeface="Times New Roman" panose="02020603050405020304" pitchFamily="18" charset="0"/>
              </a:rPr>
              <a:t>Compare outcomes between the treated and untreated groups. </a:t>
            </a:r>
          </a:p>
          <a:p>
            <a:pPr marL="285750" indent="-285750">
              <a:buFont typeface="Arial" panose="020B0604020202020204" pitchFamily="34" charset="0"/>
              <a:buChar char="•"/>
            </a:pPr>
            <a:endParaRPr lang="en-US" sz="1600" dirty="0"/>
          </a:p>
        </p:txBody>
      </p:sp>
      <p:pic>
        <p:nvPicPr>
          <p:cNvPr id="12" name="Picture 11">
            <a:extLst>
              <a:ext uri="{FF2B5EF4-FFF2-40B4-BE49-F238E27FC236}">
                <a16:creationId xmlns:a16="http://schemas.microsoft.com/office/drawing/2014/main" id="{E452549C-4A38-451E-9B87-8EE4AE872E4D}"/>
              </a:ext>
            </a:extLst>
          </p:cNvPr>
          <p:cNvPicPr>
            <a:picLocks noChangeAspect="1"/>
          </p:cNvPicPr>
          <p:nvPr/>
        </p:nvPicPr>
        <p:blipFill rotWithShape="1">
          <a:blip r:embed="rId3"/>
          <a:srcRect t="12831" b="34103"/>
          <a:stretch/>
        </p:blipFill>
        <p:spPr>
          <a:xfrm>
            <a:off x="1749050" y="3348946"/>
            <a:ext cx="7749019" cy="2482688"/>
          </a:xfrm>
          <a:prstGeom prst="rect">
            <a:avLst/>
          </a:prstGeom>
        </p:spPr>
      </p:pic>
    </p:spTree>
    <p:extLst>
      <p:ext uri="{BB962C8B-B14F-4D97-AF65-F5344CB8AC3E}">
        <p14:creationId xmlns:p14="http://schemas.microsoft.com/office/powerpoint/2010/main" val="645495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Causal inference: difference-in-differences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713232" y="1097280"/>
            <a:ext cx="10058400" cy="384048"/>
          </a:xfrm>
          <a:prstGeom prst="rect">
            <a:avLst/>
          </a:prstGeom>
          <a:noFill/>
          <a:ln/>
        </p:spPr>
        <p:txBody>
          <a:bodyPr wrap="square" lIns="0" tIns="0" rIns="0" bIns="0" rtlCol="0" anchor="ctr"/>
          <a:lstStyle/>
          <a:p>
            <a:pPr marL="0" indent="0">
              <a:buNone/>
            </a:pPr>
            <a:r>
              <a:rPr lang="en-US" sz="2400" b="1" dirty="0">
                <a:solidFill>
                  <a:srgbClr val="C65D2E"/>
                </a:solidFill>
                <a:latin typeface="Aptos Display" pitchFamily="34" charset="0"/>
                <a:ea typeface="Aptos Display" pitchFamily="34" charset="-122"/>
              </a:rPr>
              <a:t>Using </a:t>
            </a:r>
            <a:r>
              <a:rPr lang="en-US" sz="2400" b="1" dirty="0" err="1">
                <a:solidFill>
                  <a:srgbClr val="C65D2E"/>
                </a:solidFill>
                <a:latin typeface="Aptos Display" pitchFamily="34" charset="0"/>
                <a:ea typeface="Aptos Display" pitchFamily="34" charset="-122"/>
              </a:rPr>
              <a:t>DiD</a:t>
            </a:r>
            <a:r>
              <a:rPr lang="en-US" sz="2400" b="1" dirty="0">
                <a:solidFill>
                  <a:srgbClr val="C65D2E"/>
                </a:solidFill>
                <a:latin typeface="Aptos Display" pitchFamily="34" charset="0"/>
                <a:ea typeface="Aptos Display" pitchFamily="34" charset="-122"/>
              </a:rPr>
              <a:t> to estimate intervention effects:</a:t>
            </a:r>
            <a:endParaRPr lang="en-US" sz="2400" dirty="0"/>
          </a:p>
        </p:txBody>
      </p:sp>
      <p:sp>
        <p:nvSpPr>
          <p:cNvPr id="22" name="Text 19"/>
          <p:cNvSpPr/>
          <p:nvPr/>
        </p:nvSpPr>
        <p:spPr>
          <a:xfrm>
            <a:off x="832104" y="1682495"/>
            <a:ext cx="9875520" cy="1097280"/>
          </a:xfrm>
          <a:prstGeom prst="rect">
            <a:avLst/>
          </a:prstGeom>
          <a:noFill/>
          <a:ln/>
        </p:spPr>
        <p:txBody>
          <a:bodyPr wrap="square" lIns="635" tIns="635" rIns="635" bIns="635" rtlCol="0" anchor="t">
            <a:normAutofit fontScale="92500" lnSpcReduction="10000"/>
          </a:bodyPr>
          <a:lstStyle/>
          <a:p>
            <a:pPr marL="0" marR="0">
              <a:lnSpc>
                <a:spcPct val="107000"/>
              </a:lnSpc>
              <a:spcBef>
                <a:spcPts val="0"/>
              </a:spcBef>
              <a:spcAft>
                <a:spcPts val="800"/>
              </a:spcAft>
            </a:pPr>
            <a:r>
              <a:rPr lang="en-ZA" sz="1800" dirty="0">
                <a:effectLst/>
                <a:latin typeface="Calibri" panose="020F0502020204030204" pitchFamily="34" charset="0"/>
                <a:ea typeface="Calibri" panose="020F0502020204030204" pitchFamily="34" charset="0"/>
                <a:cs typeface="Times New Roman" panose="02020603050405020304" pitchFamily="18" charset="0"/>
              </a:rPr>
              <a:t>Change in treated group = after treatment - before treatment</a:t>
            </a:r>
          </a:p>
          <a:p>
            <a:pPr marL="0" marR="0">
              <a:lnSpc>
                <a:spcPct val="107000"/>
              </a:lnSpc>
              <a:spcBef>
                <a:spcPts val="0"/>
              </a:spcBef>
              <a:spcAft>
                <a:spcPts val="800"/>
              </a:spcAft>
            </a:pPr>
            <a:r>
              <a:rPr lang="en-ZA" sz="1800" dirty="0">
                <a:effectLst/>
                <a:latin typeface="Calibri" panose="020F0502020204030204" pitchFamily="34" charset="0"/>
                <a:ea typeface="Calibri" panose="020F0502020204030204" pitchFamily="34" charset="0"/>
                <a:cs typeface="Times New Roman" panose="02020603050405020304" pitchFamily="18" charset="0"/>
              </a:rPr>
              <a:t>Change in comparison group = after same period - before same period</a:t>
            </a:r>
          </a:p>
          <a:p>
            <a:pPr marL="0" marR="0">
              <a:lnSpc>
                <a:spcPct val="107000"/>
              </a:lnSpc>
              <a:spcBef>
                <a:spcPts val="0"/>
              </a:spcBef>
              <a:spcAft>
                <a:spcPts val="800"/>
              </a:spcAft>
            </a:pPr>
            <a:r>
              <a:rPr lang="en-ZA" sz="1800" b="1" dirty="0">
                <a:effectLst/>
                <a:latin typeface="Calibri" panose="020F0502020204030204" pitchFamily="34" charset="0"/>
                <a:ea typeface="Calibri" panose="020F0502020204030204" pitchFamily="34" charset="0"/>
                <a:cs typeface="Times New Roman" panose="02020603050405020304" pitchFamily="18" charset="0"/>
              </a:rPr>
              <a:t>Difference-in-differences</a:t>
            </a:r>
            <a:r>
              <a:rPr lang="en-ZA" sz="1800" dirty="0">
                <a:effectLst/>
                <a:latin typeface="Calibri" panose="020F0502020204030204" pitchFamily="34" charset="0"/>
                <a:ea typeface="Calibri" panose="020F0502020204030204" pitchFamily="34" charset="0"/>
                <a:cs typeface="Times New Roman" panose="02020603050405020304" pitchFamily="18" charset="0"/>
              </a:rPr>
              <a:t> = change in treated group - change in comparison group</a:t>
            </a:r>
          </a:p>
          <a:p>
            <a:pPr marL="285750" indent="-285750">
              <a:buFont typeface="Arial" panose="020B0604020202020204" pitchFamily="34" charset="0"/>
              <a:buChar char="•"/>
            </a:pPr>
            <a:endParaRPr lang="en-US" sz="1600" dirty="0"/>
          </a:p>
        </p:txBody>
      </p:sp>
      <p:pic>
        <p:nvPicPr>
          <p:cNvPr id="12" name="Picture 11">
            <a:extLst>
              <a:ext uri="{FF2B5EF4-FFF2-40B4-BE49-F238E27FC236}">
                <a16:creationId xmlns:a16="http://schemas.microsoft.com/office/drawing/2014/main" id="{082F42FE-EBC4-49E0-AAFA-DDFC63F85FCC}"/>
              </a:ext>
            </a:extLst>
          </p:cNvPr>
          <p:cNvPicPr>
            <a:picLocks noChangeAspect="1"/>
          </p:cNvPicPr>
          <p:nvPr/>
        </p:nvPicPr>
        <p:blipFill>
          <a:blip r:embed="rId3"/>
          <a:stretch>
            <a:fillRect/>
          </a:stretch>
        </p:blipFill>
        <p:spPr>
          <a:xfrm>
            <a:off x="1610868" y="3268099"/>
            <a:ext cx="4671060" cy="3114040"/>
          </a:xfrm>
          <a:prstGeom prst="rect">
            <a:avLst/>
          </a:prstGeom>
        </p:spPr>
      </p:pic>
    </p:spTree>
    <p:extLst>
      <p:ext uri="{BB962C8B-B14F-4D97-AF65-F5344CB8AC3E}">
        <p14:creationId xmlns:p14="http://schemas.microsoft.com/office/powerpoint/2010/main" val="3443989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Closing: choose the tool by the question</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051560"/>
            <a:ext cx="10607040" cy="329184"/>
          </a:xfrm>
          <a:prstGeom prst="rect">
            <a:avLst/>
          </a:prstGeom>
          <a:noFill/>
          <a:ln/>
        </p:spPr>
        <p:txBody>
          <a:bodyPr wrap="square" lIns="0" tIns="0" rIns="0" bIns="0" rtlCol="0" anchor="ctr"/>
          <a:lstStyle/>
          <a:p>
            <a:pPr marL="0" indent="0">
              <a:buNone/>
            </a:pPr>
            <a:r>
              <a:rPr lang="en-US" sz="1820" b="1" dirty="0">
                <a:solidFill>
                  <a:srgbClr val="2B2A28"/>
                </a:solidFill>
                <a:latin typeface="Aptos Display" pitchFamily="34" charset="0"/>
                <a:ea typeface="Aptos Display" pitchFamily="34" charset="-122"/>
                <a:cs typeface="Aptos Display" pitchFamily="34" charset="-120"/>
              </a:rPr>
              <a:t>The same business question can require very different evidence.</a:t>
            </a:r>
            <a:endParaRPr lang="en-US" sz="1820" dirty="0"/>
          </a:p>
        </p:txBody>
      </p:sp>
      <p:sp>
        <p:nvSpPr>
          <p:cNvPr id="19" name="Text 17"/>
          <p:cNvSpPr/>
          <p:nvPr/>
        </p:nvSpPr>
        <p:spPr>
          <a:xfrm>
            <a:off x="626364" y="1508760"/>
            <a:ext cx="1476756" cy="384048"/>
          </a:xfrm>
          <a:prstGeom prst="rect">
            <a:avLst/>
          </a:prstGeom>
          <a:solidFill>
            <a:srgbClr val="2B2A28"/>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FFFFFF"/>
                </a:solidFill>
                <a:latin typeface="Aptos" pitchFamily="34" charset="0"/>
                <a:ea typeface="Aptos" pitchFamily="34" charset="-122"/>
                <a:cs typeface="Aptos" pitchFamily="34" charset="-120"/>
              </a:rPr>
              <a:t>Analytical task</a:t>
            </a:r>
            <a:endParaRPr lang="en-US" sz="1100" dirty="0"/>
          </a:p>
        </p:txBody>
      </p:sp>
      <p:sp>
        <p:nvSpPr>
          <p:cNvPr id="20" name="Text 18"/>
          <p:cNvSpPr/>
          <p:nvPr/>
        </p:nvSpPr>
        <p:spPr>
          <a:xfrm>
            <a:off x="2135124" y="1508760"/>
            <a:ext cx="2025396" cy="384048"/>
          </a:xfrm>
          <a:prstGeom prst="rect">
            <a:avLst/>
          </a:prstGeom>
          <a:solidFill>
            <a:srgbClr val="2B2A28"/>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FFFFFF"/>
                </a:solidFill>
                <a:latin typeface="Aptos" pitchFamily="34" charset="0"/>
                <a:ea typeface="Aptos" pitchFamily="34" charset="-122"/>
                <a:cs typeface="Aptos" pitchFamily="34" charset="-120"/>
              </a:rPr>
              <a:t>Core question</a:t>
            </a:r>
            <a:endParaRPr lang="en-US" sz="1100" dirty="0"/>
          </a:p>
        </p:txBody>
      </p:sp>
      <p:sp>
        <p:nvSpPr>
          <p:cNvPr id="21" name="Text 19"/>
          <p:cNvSpPr/>
          <p:nvPr/>
        </p:nvSpPr>
        <p:spPr>
          <a:xfrm>
            <a:off x="4192524" y="1508760"/>
            <a:ext cx="3396996" cy="384048"/>
          </a:xfrm>
          <a:prstGeom prst="rect">
            <a:avLst/>
          </a:prstGeom>
          <a:solidFill>
            <a:srgbClr val="2B2A28"/>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FFFFFF"/>
                </a:solidFill>
                <a:latin typeface="Aptos" pitchFamily="34" charset="0"/>
                <a:ea typeface="Aptos" pitchFamily="34" charset="-122"/>
                <a:cs typeface="Aptos" pitchFamily="34" charset="-120"/>
              </a:rPr>
              <a:t>Churn example</a:t>
            </a:r>
            <a:endParaRPr lang="en-US" sz="1100" dirty="0"/>
          </a:p>
        </p:txBody>
      </p:sp>
      <p:sp>
        <p:nvSpPr>
          <p:cNvPr id="22" name="Text 20"/>
          <p:cNvSpPr/>
          <p:nvPr/>
        </p:nvSpPr>
        <p:spPr>
          <a:xfrm>
            <a:off x="7621524" y="1508760"/>
            <a:ext cx="2939796" cy="384048"/>
          </a:xfrm>
          <a:prstGeom prst="rect">
            <a:avLst/>
          </a:prstGeom>
          <a:solidFill>
            <a:srgbClr val="2B2A28"/>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FFFFFF"/>
                </a:solidFill>
                <a:latin typeface="Aptos" pitchFamily="34" charset="0"/>
                <a:ea typeface="Aptos" pitchFamily="34" charset="-122"/>
                <a:cs typeface="Aptos" pitchFamily="34" charset="-120"/>
              </a:rPr>
              <a:t>Suitable methods</a:t>
            </a:r>
            <a:endParaRPr lang="en-US" sz="1100" dirty="0"/>
          </a:p>
        </p:txBody>
      </p:sp>
      <p:sp>
        <p:nvSpPr>
          <p:cNvPr id="23" name="Text 21"/>
          <p:cNvSpPr/>
          <p:nvPr/>
        </p:nvSpPr>
        <p:spPr>
          <a:xfrm>
            <a:off x="626364" y="1892808"/>
            <a:ext cx="1476756" cy="530352"/>
          </a:xfrm>
          <a:prstGeom prst="rect">
            <a:avLst/>
          </a:prstGeom>
          <a:solidFill>
            <a:srgbClr val="E4F0F1"/>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1F2933"/>
                </a:solidFill>
                <a:latin typeface="Aptos" pitchFamily="34" charset="0"/>
                <a:ea typeface="Aptos" pitchFamily="34" charset="-122"/>
                <a:cs typeface="Aptos" pitchFamily="34" charset="-120"/>
              </a:rPr>
              <a:t>Prediction</a:t>
            </a:r>
            <a:endParaRPr lang="en-US" sz="1100" dirty="0"/>
          </a:p>
        </p:txBody>
      </p:sp>
      <p:sp>
        <p:nvSpPr>
          <p:cNvPr id="24" name="Text 22"/>
          <p:cNvSpPr/>
          <p:nvPr/>
        </p:nvSpPr>
        <p:spPr>
          <a:xfrm>
            <a:off x="2135124" y="1892808"/>
            <a:ext cx="2025396" cy="530352"/>
          </a:xfrm>
          <a:prstGeom prst="rect">
            <a:avLst/>
          </a:prstGeom>
          <a:solidFill>
            <a:srgbClr val="E4F0F1"/>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Who is likely to churn?</a:t>
            </a:r>
            <a:endParaRPr lang="en-US" sz="1100" dirty="0"/>
          </a:p>
        </p:txBody>
      </p:sp>
      <p:sp>
        <p:nvSpPr>
          <p:cNvPr id="25" name="Text 23"/>
          <p:cNvSpPr/>
          <p:nvPr/>
        </p:nvSpPr>
        <p:spPr>
          <a:xfrm>
            <a:off x="4192524" y="1892808"/>
            <a:ext cx="3396996" cy="530352"/>
          </a:xfrm>
          <a:prstGeom prst="rect">
            <a:avLst/>
          </a:prstGeom>
          <a:solidFill>
            <a:srgbClr val="E4F0F1"/>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Which customers should be prioritised for retention activity?</a:t>
            </a:r>
            <a:endParaRPr lang="en-US" sz="1100" dirty="0"/>
          </a:p>
        </p:txBody>
      </p:sp>
      <p:sp>
        <p:nvSpPr>
          <p:cNvPr id="26" name="Text 24"/>
          <p:cNvSpPr/>
          <p:nvPr/>
        </p:nvSpPr>
        <p:spPr>
          <a:xfrm>
            <a:off x="7621524" y="1892808"/>
            <a:ext cx="2939796" cy="530352"/>
          </a:xfrm>
          <a:prstGeom prst="rect">
            <a:avLst/>
          </a:prstGeom>
          <a:solidFill>
            <a:srgbClr val="E4F0F1"/>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XGBoost, random forest, logistic regression</a:t>
            </a:r>
            <a:endParaRPr lang="en-US" sz="1100" dirty="0"/>
          </a:p>
        </p:txBody>
      </p:sp>
      <p:sp>
        <p:nvSpPr>
          <p:cNvPr id="27" name="Text 25"/>
          <p:cNvSpPr/>
          <p:nvPr/>
        </p:nvSpPr>
        <p:spPr>
          <a:xfrm>
            <a:off x="626364" y="2423160"/>
            <a:ext cx="1476756" cy="530352"/>
          </a:xfrm>
          <a:prstGeom prst="rect">
            <a:avLst/>
          </a:prstGeom>
          <a:solidFill>
            <a:srgbClr val="E7EEF6"/>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1F2933"/>
                </a:solidFill>
                <a:latin typeface="Aptos" pitchFamily="34" charset="0"/>
                <a:ea typeface="Aptos" pitchFamily="34" charset="-122"/>
                <a:cs typeface="Aptos" pitchFamily="34" charset="-120"/>
              </a:rPr>
              <a:t>Model explanation</a:t>
            </a:r>
            <a:endParaRPr lang="en-US" sz="1100" dirty="0"/>
          </a:p>
        </p:txBody>
      </p:sp>
      <p:sp>
        <p:nvSpPr>
          <p:cNvPr id="28" name="Text 26"/>
          <p:cNvSpPr/>
          <p:nvPr/>
        </p:nvSpPr>
        <p:spPr>
          <a:xfrm>
            <a:off x="2135124" y="2423160"/>
            <a:ext cx="2025396" cy="530352"/>
          </a:xfrm>
          <a:prstGeom prst="rect">
            <a:avLst/>
          </a:prstGeom>
          <a:solidFill>
            <a:srgbClr val="E7EEF6"/>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Why did the model flag this customer?</a:t>
            </a:r>
            <a:endParaRPr lang="en-US" sz="1100" dirty="0"/>
          </a:p>
        </p:txBody>
      </p:sp>
      <p:sp>
        <p:nvSpPr>
          <p:cNvPr id="29" name="Text 27"/>
          <p:cNvSpPr/>
          <p:nvPr/>
        </p:nvSpPr>
        <p:spPr>
          <a:xfrm>
            <a:off x="4192524" y="2423160"/>
            <a:ext cx="3396996" cy="530352"/>
          </a:xfrm>
          <a:prstGeom prst="rect">
            <a:avLst/>
          </a:prstGeom>
          <a:solidFill>
            <a:srgbClr val="E7EEF6"/>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Which features pushed this customer’s churn risk up or down?</a:t>
            </a:r>
            <a:endParaRPr lang="en-US" sz="1100" dirty="0"/>
          </a:p>
        </p:txBody>
      </p:sp>
      <p:sp>
        <p:nvSpPr>
          <p:cNvPr id="30" name="Text 28"/>
          <p:cNvSpPr/>
          <p:nvPr/>
        </p:nvSpPr>
        <p:spPr>
          <a:xfrm>
            <a:off x="7621524" y="2423160"/>
            <a:ext cx="2939796" cy="530352"/>
          </a:xfrm>
          <a:prstGeom prst="rect">
            <a:avLst/>
          </a:prstGeom>
          <a:solidFill>
            <a:srgbClr val="E7EEF6"/>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SHAP values, feature importance, partial dependence</a:t>
            </a:r>
            <a:endParaRPr lang="en-US" sz="1100" dirty="0"/>
          </a:p>
        </p:txBody>
      </p:sp>
      <p:sp>
        <p:nvSpPr>
          <p:cNvPr id="31" name="Text 29"/>
          <p:cNvSpPr/>
          <p:nvPr/>
        </p:nvSpPr>
        <p:spPr>
          <a:xfrm>
            <a:off x="626364" y="2953512"/>
            <a:ext cx="1476756" cy="530352"/>
          </a:xfrm>
          <a:prstGeom prst="rect">
            <a:avLst/>
          </a:prstGeom>
          <a:solidFill>
            <a:srgbClr val="EEE8EE"/>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1F2933"/>
                </a:solidFill>
                <a:latin typeface="Aptos" pitchFamily="34" charset="0"/>
                <a:ea typeface="Aptos" pitchFamily="34" charset="-122"/>
                <a:cs typeface="Aptos" pitchFamily="34" charset="-120"/>
              </a:rPr>
              <a:t>Attribution</a:t>
            </a:r>
            <a:endParaRPr lang="en-US" sz="1100" dirty="0"/>
          </a:p>
        </p:txBody>
      </p:sp>
      <p:sp>
        <p:nvSpPr>
          <p:cNvPr id="32" name="Text 30"/>
          <p:cNvSpPr/>
          <p:nvPr/>
        </p:nvSpPr>
        <p:spPr>
          <a:xfrm>
            <a:off x="2135124" y="2953512"/>
            <a:ext cx="2025396" cy="530352"/>
          </a:xfrm>
          <a:prstGeom prst="rect">
            <a:avLst/>
          </a:prstGeom>
          <a:solidFill>
            <a:srgbClr val="EEE8EE"/>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Which factors are associated with churn?</a:t>
            </a:r>
            <a:endParaRPr lang="en-US" sz="1100" dirty="0"/>
          </a:p>
        </p:txBody>
      </p:sp>
      <p:sp>
        <p:nvSpPr>
          <p:cNvPr id="33" name="Text 31"/>
          <p:cNvSpPr/>
          <p:nvPr/>
        </p:nvSpPr>
        <p:spPr>
          <a:xfrm>
            <a:off x="4192524" y="2953512"/>
            <a:ext cx="3396996" cy="530352"/>
          </a:xfrm>
          <a:prstGeom prst="rect">
            <a:avLst/>
          </a:prstGeom>
          <a:solidFill>
            <a:srgbClr val="EEE8EE"/>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Are month-to-month contracts related to churn, controlling for tenure and services?</a:t>
            </a:r>
            <a:endParaRPr lang="en-US" sz="1100" dirty="0"/>
          </a:p>
        </p:txBody>
      </p:sp>
      <p:sp>
        <p:nvSpPr>
          <p:cNvPr id="34" name="Text 32"/>
          <p:cNvSpPr/>
          <p:nvPr/>
        </p:nvSpPr>
        <p:spPr>
          <a:xfrm>
            <a:off x="7621524" y="2953512"/>
            <a:ext cx="2939796" cy="530352"/>
          </a:xfrm>
          <a:prstGeom prst="rect">
            <a:avLst/>
          </a:prstGeom>
          <a:solidFill>
            <a:srgbClr val="EEE8EE"/>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Logistic regression, GAMs, GAMMs, mixed models</a:t>
            </a:r>
            <a:endParaRPr lang="en-US" sz="1100" dirty="0"/>
          </a:p>
        </p:txBody>
      </p:sp>
      <p:sp>
        <p:nvSpPr>
          <p:cNvPr id="35" name="Text 33"/>
          <p:cNvSpPr/>
          <p:nvPr/>
        </p:nvSpPr>
        <p:spPr>
          <a:xfrm>
            <a:off x="626364" y="3483864"/>
            <a:ext cx="1476756" cy="530352"/>
          </a:xfrm>
          <a:prstGeom prst="rect">
            <a:avLst/>
          </a:prstGeom>
          <a:solidFill>
            <a:srgbClr val="F2E5DA"/>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1F2933"/>
                </a:solidFill>
                <a:latin typeface="Aptos" pitchFamily="34" charset="0"/>
                <a:ea typeface="Aptos" pitchFamily="34" charset="-122"/>
                <a:cs typeface="Aptos" pitchFamily="34" charset="-120"/>
              </a:rPr>
              <a:t>Causal effect estimation</a:t>
            </a:r>
            <a:endParaRPr lang="en-US" sz="1100" dirty="0"/>
          </a:p>
        </p:txBody>
      </p:sp>
      <p:sp>
        <p:nvSpPr>
          <p:cNvPr id="36" name="Text 34"/>
          <p:cNvSpPr/>
          <p:nvPr/>
        </p:nvSpPr>
        <p:spPr>
          <a:xfrm>
            <a:off x="2135124" y="3483864"/>
            <a:ext cx="2025396" cy="530352"/>
          </a:xfrm>
          <a:prstGeom prst="rect">
            <a:avLst/>
          </a:prstGeom>
          <a:solidFill>
            <a:srgbClr val="F2E5DA"/>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What would happen if we changed something?</a:t>
            </a:r>
            <a:endParaRPr lang="en-US" sz="1100" dirty="0"/>
          </a:p>
        </p:txBody>
      </p:sp>
      <p:sp>
        <p:nvSpPr>
          <p:cNvPr id="37" name="Text 35"/>
          <p:cNvSpPr/>
          <p:nvPr/>
        </p:nvSpPr>
        <p:spPr>
          <a:xfrm>
            <a:off x="4192524" y="3483864"/>
            <a:ext cx="3396996" cy="530352"/>
          </a:xfrm>
          <a:prstGeom prst="rect">
            <a:avLst/>
          </a:prstGeom>
          <a:solidFill>
            <a:srgbClr val="F2E5DA"/>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Did a retention call or loyalty discount reduce churn?</a:t>
            </a:r>
            <a:endParaRPr lang="en-US" sz="1100" dirty="0"/>
          </a:p>
        </p:txBody>
      </p:sp>
      <p:sp>
        <p:nvSpPr>
          <p:cNvPr id="38" name="Text 36"/>
          <p:cNvSpPr/>
          <p:nvPr/>
        </p:nvSpPr>
        <p:spPr>
          <a:xfrm>
            <a:off x="7621524" y="3483864"/>
            <a:ext cx="2939796" cy="530352"/>
          </a:xfrm>
          <a:prstGeom prst="rect">
            <a:avLst/>
          </a:prstGeom>
          <a:solidFill>
            <a:srgbClr val="F2E5DA"/>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SEM, propensity score matching, difference-in-differences, instrumental variables</a:t>
            </a:r>
            <a:endParaRPr lang="en-US" sz="1100" dirty="0"/>
          </a:p>
        </p:txBody>
      </p:sp>
      <p:sp>
        <p:nvSpPr>
          <p:cNvPr id="39" name="Text 37"/>
          <p:cNvSpPr/>
          <p:nvPr/>
        </p:nvSpPr>
        <p:spPr>
          <a:xfrm>
            <a:off x="713232" y="4919472"/>
            <a:ext cx="2926080" cy="274320"/>
          </a:xfrm>
          <a:prstGeom prst="rect">
            <a:avLst/>
          </a:prstGeom>
          <a:noFill/>
          <a:ln/>
        </p:spPr>
        <p:txBody>
          <a:bodyPr wrap="square" lIns="0" tIns="0" rIns="0" bIns="0" rtlCol="0" anchor="ctr"/>
          <a:lstStyle/>
          <a:p>
            <a:pPr marL="0" indent="0">
              <a:buNone/>
            </a:pPr>
            <a:r>
              <a:rPr lang="en-US" sz="1600" b="1" dirty="0">
                <a:solidFill>
                  <a:srgbClr val="C65D2E"/>
                </a:solidFill>
                <a:latin typeface="Aptos Display" pitchFamily="34" charset="0"/>
                <a:ea typeface="Aptos Display" pitchFamily="34" charset="-122"/>
                <a:cs typeface="Aptos Display" pitchFamily="34" charset="-120"/>
              </a:rPr>
              <a:t>Practical decision rule</a:t>
            </a:r>
            <a:endParaRPr lang="en-US" sz="1600" dirty="0"/>
          </a:p>
        </p:txBody>
      </p:sp>
      <p:sp>
        <p:nvSpPr>
          <p:cNvPr id="41" name="Text 39"/>
          <p:cNvSpPr/>
          <p:nvPr/>
        </p:nvSpPr>
        <p:spPr>
          <a:xfrm>
            <a:off x="710184" y="5318760"/>
            <a:ext cx="10698480" cy="502920"/>
          </a:xfrm>
          <a:prstGeom prst="rect">
            <a:avLst/>
          </a:prstGeom>
          <a:noFill/>
          <a:ln/>
        </p:spPr>
        <p:txBody>
          <a:bodyPr wrap="square" lIns="254" tIns="254" rIns="254" bIns="254" rtlCol="0" anchor="ctr">
            <a:normAutofit/>
          </a:bodyPr>
          <a:lstStyle/>
          <a:p>
            <a:pPr marL="0" indent="0">
              <a:buNone/>
            </a:pPr>
            <a:r>
              <a:rPr lang="en-US" sz="1350" dirty="0">
                <a:solidFill>
                  <a:srgbClr val="1F2933"/>
                </a:solidFill>
                <a:latin typeface="Aptos" pitchFamily="34" charset="0"/>
                <a:ea typeface="Aptos" pitchFamily="34" charset="-122"/>
                <a:cs typeface="Aptos" pitchFamily="34" charset="-120"/>
              </a:rPr>
              <a:t>Use prediction for prioritisation, explanation for transparency, attribution for controlled associations, and causal inference when the decision is about changing the system.</a:t>
            </a:r>
            <a:endParaRPr lang="en-US" sz="1350" dirty="0"/>
          </a:p>
        </p:txBody>
      </p:sp>
      <p:sp>
        <p:nvSpPr>
          <p:cNvPr id="42" name="Text 9">
            <a:extLst>
              <a:ext uri="{FF2B5EF4-FFF2-40B4-BE49-F238E27FC236}">
                <a16:creationId xmlns:a16="http://schemas.microsoft.com/office/drawing/2014/main" id="{BEF0D7CA-87CE-472F-A9B1-B4A3B3E59FD8}"/>
              </a:ext>
            </a:extLst>
          </p:cNvPr>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43" name="Shape 6">
            <a:extLst>
              <a:ext uri="{FF2B5EF4-FFF2-40B4-BE49-F238E27FC236}">
                <a16:creationId xmlns:a16="http://schemas.microsoft.com/office/drawing/2014/main" id="{6386D827-DCFF-4DBE-817C-148422469AFC}"/>
              </a:ext>
            </a:extLst>
          </p:cNvPr>
          <p:cNvSpPr/>
          <p:nvPr/>
        </p:nvSpPr>
        <p:spPr>
          <a:xfrm>
            <a:off x="10067544" y="694256"/>
            <a:ext cx="1280160" cy="0"/>
          </a:xfrm>
          <a:prstGeom prst="line">
            <a:avLst/>
          </a:prstGeom>
          <a:noFill/>
          <a:ln w="15240">
            <a:solidFill>
              <a:srgbClr val="D7D2CB"/>
            </a:solidFill>
            <a:prstDash val="solid"/>
          </a:ln>
        </p:spPr>
        <p:txBody>
          <a:bodyPr/>
          <a:lstStyle/>
          <a:p>
            <a:endParaRPr lang="en-ZA"/>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2021</TotalTime>
  <Words>4966</Words>
  <Application>Microsoft Office PowerPoint</Application>
  <PresentationFormat>Widescreen</PresentationFormat>
  <Paragraphs>368</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PwC ARQ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Prediction to Causality</dc:title>
  <dc:subject>From Prediction to Causality</dc:subject>
  <dc:creator>Justin Gatonby</dc:creator>
  <cp:lastModifiedBy>Gatonby, J, Mr [28145844@sun.ac.za]</cp:lastModifiedBy>
  <cp:revision>41</cp:revision>
  <dcterms:created xsi:type="dcterms:W3CDTF">2026-07-07T21:36:19Z</dcterms:created>
  <dcterms:modified xsi:type="dcterms:W3CDTF">2026-07-13T11:22:53Z</dcterms:modified>
</cp:coreProperties>
</file>